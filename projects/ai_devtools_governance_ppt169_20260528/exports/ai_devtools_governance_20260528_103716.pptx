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emf" ContentType="image/x-emf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7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今天這份簡報的核心觀點很直接，AI 參與程式開發之後，真正決定效率與品質的，不只是模型能力，而是協作邊界設計得夠不夠精確。這裡我們不是從理論出發，而是從 GitHub 上高關注的提示詞治理實踐切入，觀察哪些規則能把 AI 從不穩定的執行者，變成可管理的協作模組。</a:t>
            </a:r>
          </a:p>
          <a:p>
            <a:endParaRPr lang="zh-CN" dirty="0"/>
          </a:p>
          <a:p>
            <a:r>
              <a:rPr lang="zh-CN" dirty="0"/>
              <a:t>接下來七頁，我會先說明為什麼這件事值得關注，再拆解常見失效點，最後收斂到一組可執行的治理原則。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最重要的一句話是，當 AI 開始參與程式開發，真正決定效率與品質的，是協作規則是否足夠精確。換句話說，影響產出穩定性的關鍵，不在於模型會不會寫程式，而在於團隊有沒有事先定義清楚什麼時候要停下來確認、什麼不能順手改、以及什麼叫做完成。</a:t>
            </a:r>
          </a:p>
          <a:p>
            <a:endParaRPr lang="zh-CN" dirty="0"/>
          </a:p>
          <a:p>
            <a:r>
              <a:rPr lang="zh-CN" dirty="0"/>
              <a:t>如果沒有這些規則，AI 看起來像在加速，實際上是在把錯誤成本延後到 review 與維護階段才爆出來。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從實務觀察來看，最常見的失效點可以濃縮成三類，而且它們通常不是分開出現。第一類是需求還不清楚時就直接選路徑執行，方向一開始就偏掉。第二類是為了簡單任務提前堆疊過多架構，讓系統還沒變複雜，維護成本先變複雜。第三類是局部修復時連帶改動無關區塊，讓 review 的焦點被噪音沖散。</a:t>
            </a:r>
          </a:p>
          <a:p>
            <a:endParaRPr lang="zh-CN" dirty="0"/>
          </a:p>
          <a:p>
            <a:r>
              <a:rPr lang="zh-CN" dirty="0"/>
              <a:t>三者合在一起，最後會把團隊拖向方向偏差、維護膨脹與審查變慢。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這件事的成本其實同時落在工程端與管理端。對工程團隊來說，最直接的感受是要花時間把 AI 拉回正確方向，程式碼量變大，review 時也更難抓到真正重要的差異。對決策層來說，這代表問題不是單一 bug，而是使用 AI 的流程治理還沒有建立起來。</a:t>
            </a:r>
          </a:p>
          <a:p>
            <a:endParaRPr lang="zh-CN" dirty="0"/>
          </a:p>
          <a:p>
            <a:r>
              <a:rPr lang="zh-CN" dirty="0"/>
              <a:t>也就是說，工具越普及，治理成本就越不能放到最後才補，而是要前置到協作規則的設計裡。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社群目前給出的解法並不昂貴，但很有效，就是把邊界、停損點與驗收方式直接寫進系統提示詞與工作流程裡。這類做法之所以快速累積關注，是因為它不要求團隊先改模型，也不要求先建構新的大型基礎設施，而是先用規則把 AI 的輸出穩定下來。</a:t>
            </a:r>
          </a:p>
          <a:p>
            <a:endParaRPr lang="zh-CN" dirty="0"/>
          </a:p>
          <a:p>
            <a:r>
              <a:rPr lang="zh-CN" dirty="0"/>
              <a:t>從治理角度看，這一步很重要，因為它把 AI 從一個不可預測的助手，轉成一個行為邊界清楚的協作角色。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如果要把這些想法落成團隊規則，可以整理成四個約束原則。第一，需求未清楚前先確認，也就是 think before coding。第二，只做當下需要的解法，不為假想未來過度設計。第三，只改與任務直接相關的程式碼，不讓局部修復擴散成無關重構。第四，用可驗證的結果驅動執行，例如先補測試、再修正行為。</a:t>
            </a:r>
          </a:p>
          <a:p>
            <a:endParaRPr lang="zh-CN" dirty="0"/>
          </a:p>
          <a:p>
            <a:r>
              <a:rPr lang="zh-CN" dirty="0"/>
              <a:t>管理上對應的要求就很清楚了，模糊需求先澄清、禁止預先堆疊架構、禁止順手修改無關區塊，並且優先要求可驗證成果。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最後想留下的結論是，真正可規模化的 AI 開發能力，不是建立在更強的自動化幻覺上，而是建立在更明確的規則、更可驗證的結果，以及對修改邊界的共同紀律上。當團隊把這三件事講清楚，AI 才會從偶爾有效，變成可以持續複製的生產力系統。</a:t>
            </a:r>
          </a:p>
          <a:p>
            <a:endParaRPr lang="zh-CN" dirty="0"/>
          </a:p>
          <a:p>
            <a:r>
              <a:rPr lang="zh-CN" dirty="0"/>
              <a:t>這也是 AI 輔助開發治理真正要處理的問題。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6b31e293eb600ca.png"/>
  <Relationship Id="rId3" Type="http://schemas.openxmlformats.org/officeDocument/2006/relationships/image" Target="../media/image_9beece79111236e1.emf"/>
  <Relationship Id="rId4" Type="http://schemas.openxmlformats.org/officeDocument/2006/relationships/image" Target="../media/image_ad5a868f5f8e623f.png"/>
  <Relationship Id="rId5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5a0c9c1dd5be909.png"/>
  <Relationship Id="rId3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eece79111236e1.emf"/>
  <Relationship Id="rId3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eece79111236e1.emf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eece79111236e1.emf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eece79111236e1.emf"/>
  <Relationship Id="rId3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4c4c1cdac611475.png"/>
  <Relationship Id="rId3" Type="http://schemas.openxmlformats.org/officeDocument/2006/relationships/notesSlide" Target="../notesSlides/notesSlide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070610" y="1432560"/>
            <a:ext cx="3135259" cy="1463040"/>
            <a:chOff x="1070610" y="1432560"/>
            <a:chExt cx="3135259" cy="1463040"/>
          </a:xfrm>
        </p:grpSpPr>
        <p:sp>
          <p:nvSpPr>
            <p:cNvPr id="3" name="TextBox 3"/>
            <p:cNvSpPr txBox="1"/>
            <p:nvPr/>
          </p:nvSpPr>
          <p:spPr>
            <a:xfrm>
              <a:off x="1070610" y="1432560"/>
              <a:ext cx="313525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AI 輔助開發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0610" y="2042160"/>
              <a:ext cx="1282827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治理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78242" y="3071336"/>
            <a:ext cx="4548353" cy="695802"/>
            <a:chOff x="1178242" y="3071336"/>
            <a:chExt cx="4548353" cy="695802"/>
          </a:xfrm>
        </p:grpSpPr>
        <p:sp>
          <p:nvSpPr>
            <p:cNvPr id="6" name="TextBox 6"/>
            <p:cNvSpPr txBox="1"/>
            <p:nvPr/>
          </p:nvSpPr>
          <p:spPr>
            <a:xfrm>
              <a:off x="1178242" y="3071336"/>
              <a:ext cx="4548353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b="1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從 GitHub 萬星提示詞專案看協作邊界設計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83005" y="3492818"/>
              <a:ext cx="418380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An operational view inspired by Andrej Karpathy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03948" y="6086475"/>
            <a:ext cx="9945052" cy="409575"/>
            <a:chOff x="1103948" y="6086475"/>
            <a:chExt cx="9945052" cy="409575"/>
          </a:xfrm>
        </p:grpSpPr>
        <p:sp>
          <p:nvSpPr>
            <p:cNvPr id="9" name="TextBox 9"/>
            <p:cNvSpPr txBox="1"/>
            <p:nvPr/>
          </p:nvSpPr>
          <p:spPr>
            <a:xfrm>
              <a:off x="1103948" y="6154579"/>
              <a:ext cx="2339792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 xml:space="preserve">2026年  AI 協作治理簡報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5150" y="6096000"/>
              <a:ext cx="323850" cy="400050"/>
            </a:xfrm>
            <a:prstGeom prst="rect">
              <a:avLst/>
            </a:prstGeom>
          </p:spPr>
        </p:pic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63050" y="6086475"/>
              <a:ext cx="1657350" cy="409575"/>
            </a:xfrm>
            <a:prstGeom prst="rect">
              <a:avLst/>
            </a:prstGeom>
          </p:spPr>
        </p:pic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72A">
                <a:alpha val="22000"/>
              </a:srgbClr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125855" y="1340168"/>
            <a:ext cx="1357455" cy="326707"/>
            <a:chOff x="1125855" y="1340168"/>
            <a:chExt cx="1357455" cy="326707"/>
          </a:xfrm>
        </p:grpSpPr>
        <p:sp>
          <p:nvSpPr>
            <p:cNvPr id="5" name="TextBox 5"/>
            <p:cNvSpPr txBox="1"/>
            <p:nvPr/>
          </p:nvSpPr>
          <p:spPr>
            <a:xfrm>
              <a:off x="1125855" y="134016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WHY IT MATTERS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143000" y="1619250"/>
              <a:ext cx="1123950" cy="47625"/>
            </a:xfrm>
            <a:prstGeom prst="roundRect">
              <a:avLst>
                <a:gd name="adj" fmla="val 50000"/>
              </a:avLst>
            </a:prstGeom>
            <a:solidFill>
              <a:srgbClr val="E0F974"/>
            </a:solidFill>
            <a:ln>
              <a:noFill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1104900" y="2057400"/>
            <a:ext cx="4885801" cy="1638300"/>
            <a:chOff x="1104900" y="2057400"/>
            <a:chExt cx="4885801" cy="1638300"/>
          </a:xfrm>
        </p:grpSpPr>
        <p:sp>
          <p:nvSpPr>
            <p:cNvPr id="8" name="TextBox 8"/>
            <p:cNvSpPr txBox="1"/>
            <p:nvPr/>
          </p:nvSpPr>
          <p:spPr>
            <a:xfrm>
              <a:off x="1104900" y="2057400"/>
              <a:ext cx="4885801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當 AI 開始參與程式開發，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04900" y="2571750"/>
              <a:ext cx="469677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真正決定效率與品質的，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04900" y="3086100"/>
              <a:ext cx="469677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是協作規則是否足夠精確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3000" y="4591050"/>
            <a:ext cx="6471976" cy="723900"/>
            <a:chOff x="1143000" y="4591050"/>
            <a:chExt cx="6471976" cy="723900"/>
          </a:xfrm>
        </p:grpSpPr>
        <p:sp>
          <p:nvSpPr>
            <p:cNvPr id="12" name="Rectangle 12"/>
            <p:cNvSpPr/>
            <p:nvPr/>
          </p:nvSpPr>
          <p:spPr>
            <a:xfrm>
              <a:off x="1143000" y="4591050"/>
              <a:ext cx="6438900" cy="723900"/>
            </a:xfrm>
            <a:prstGeom prst="roundRect">
              <a:avLst>
                <a:gd name="adj" fmla="val 18421"/>
              </a:avLst>
            </a:prstGeom>
            <a:solidFill>
              <a:srgbClr val="00AA64">
                <a:alpha val="88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89698" y="4830604"/>
              <a:ext cx="6225278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治理的核心不是多加一個工具，而是讓 AI 在明確邊界內穩定協作。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-1962150" y="-438150"/>
            <a:ext cx="14154150" cy="7296150"/>
            <a:chOff x="-1962150" y="-438150"/>
            <a:chExt cx="14154150" cy="7296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914400" cy="6858000"/>
            </a:xfrm>
            <a:prstGeom prst="rect">
              <a:avLst/>
            </a:prstGeom>
            <a:gradFill>
              <a:gsLst>
                <a:gs pos="0">
                  <a:srgbClr val="8DECC1"/>
                </a:gs>
                <a:gs pos="100000">
                  <a:srgbClr val="00AA64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371600" y="-438150"/>
              <a:ext cx="2514600" cy="2514600"/>
            </a:xfrm>
            <a:prstGeom prst="ellipse">
              <a:avLst/>
            </a:prstGeom>
            <a:solidFill>
              <a:srgbClr val="C8F9D9">
                <a:alpha val="62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1943100" y="266700"/>
              <a:ext cx="3238500" cy="3238500"/>
            </a:xfrm>
            <a:prstGeom prst="ellipse">
              <a:avLst/>
            </a:prstGeom>
            <a:solidFill>
              <a:srgbClr val="A7F3D0">
                <a:alpha val="420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-1962150" y="1600200"/>
              <a:ext cx="3505200" cy="3505200"/>
            </a:xfrm>
            <a:prstGeom prst="ellipse">
              <a:avLst/>
            </a:prstGeom>
            <a:solidFill>
              <a:srgbClr val="6EE7B7">
                <a:alpha val="24000"/>
              </a:srgbClr>
            </a:solidFill>
            <a:ln>
              <a:noFill/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450" y="6343650"/>
              <a:ext cx="323850" cy="400050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897255" y="848678"/>
            <a:ext cx="9637395" cy="2406967"/>
            <a:chOff x="897255" y="848678"/>
            <a:chExt cx="9637395" cy="2406967"/>
          </a:xfrm>
        </p:grpSpPr>
        <p:sp>
          <p:nvSpPr>
            <p:cNvPr id="9" name="TextBox 9"/>
            <p:cNvSpPr txBox="1"/>
            <p:nvPr/>
          </p:nvSpPr>
          <p:spPr>
            <a:xfrm rot="5400000">
              <a:off x="897255" y="3011805"/>
              <a:ext cx="4305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RISKS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6865" y="848678"/>
              <a:ext cx="399226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目前最常見的三個失效點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619250" y="1381125"/>
              <a:ext cx="8915400" cy="514350"/>
            </a:xfrm>
            <a:prstGeom prst="roundRect">
              <a:avLst>
                <a:gd name="adj" fmla="val 22222"/>
              </a:avLst>
            </a:prstGeom>
            <a:solidFill>
              <a:srgbClr val="F4FBF8"/>
            </a:solidFill>
            <a:ln w="9525">
              <a:solidFill>
                <a:srgbClr val="D7E8DF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828800" y="1543050"/>
              <a:ext cx="517874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Karpathy 指出的三大風險，會直接拉高開發與審查成本。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619250" y="2171700"/>
            <a:ext cx="2724150" cy="2609850"/>
            <a:chOff x="1619250" y="2171700"/>
            <a:chExt cx="2724150" cy="2609850"/>
          </a:xfrm>
        </p:grpSpPr>
        <p:sp>
          <p:nvSpPr>
            <p:cNvPr id="14" name="Rectangle 14"/>
            <p:cNvSpPr/>
            <p:nvPr/>
          </p:nvSpPr>
          <p:spPr>
            <a:xfrm>
              <a:off x="1619250" y="2171700"/>
              <a:ext cx="2724150" cy="2609850"/>
            </a:xfrm>
            <a:prstGeom prst="roundRect">
              <a:avLst>
                <a:gd name="adj" fmla="val 6569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619250" y="2171700"/>
              <a:ext cx="2724150" cy="95250"/>
            </a:xfrm>
            <a:prstGeom prst="roundRect">
              <a:avLst>
                <a:gd name="adj" fmla="val 50000"/>
              </a:avLst>
            </a:prstGeom>
            <a:solidFill>
              <a:srgbClr val="00AA64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809750" y="2419350"/>
              <a:ext cx="457200" cy="457200"/>
            </a:xfrm>
            <a:prstGeom prst="ellipse">
              <a:avLst/>
            </a:prstGeom>
            <a:solidFill>
              <a:srgbClr val="F4FBF8"/>
            </a:solidFill>
            <a:ln w="19050">
              <a:solidFill>
                <a:srgbClr val="00AA64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945005" y="2578418"/>
              <a:ext cx="194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97380" y="29546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假設先驗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05952" y="3408521"/>
              <a:ext cx="193643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需求仍有歧義時，不先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05952" y="3675221"/>
              <a:ext cx="193643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澄清就直接執行，導致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05952" y="3941921"/>
              <a:ext cx="174640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方向一開始就偏掉。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733925" y="2171700"/>
            <a:ext cx="2724150" cy="2609850"/>
            <a:chOff x="4733925" y="2171700"/>
            <a:chExt cx="2724150" cy="2609850"/>
          </a:xfrm>
        </p:grpSpPr>
        <p:sp>
          <p:nvSpPr>
            <p:cNvPr id="23" name="Rectangle 23"/>
            <p:cNvSpPr/>
            <p:nvPr/>
          </p:nvSpPr>
          <p:spPr>
            <a:xfrm>
              <a:off x="4733925" y="2171700"/>
              <a:ext cx="2724150" cy="2609850"/>
            </a:xfrm>
            <a:prstGeom prst="roundRect">
              <a:avLst>
                <a:gd name="adj" fmla="val 6569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733925" y="2171700"/>
              <a:ext cx="2724150" cy="95250"/>
            </a:xfrm>
            <a:prstGeom prst="roundRect">
              <a:avLst>
                <a:gd name="adj" fmla="val 50000"/>
              </a:avLst>
            </a:prstGeom>
            <a:solidFill>
              <a:srgbClr val="2BCB8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4924425" y="2419350"/>
              <a:ext cx="457200" cy="457200"/>
            </a:xfrm>
            <a:prstGeom prst="ellipse">
              <a:avLst/>
            </a:prstGeom>
            <a:solidFill>
              <a:srgbClr val="F4FBF8"/>
            </a:solidFill>
            <a:ln w="19050">
              <a:solidFill>
                <a:srgbClr val="2BCB8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059680" y="25784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12055" y="29546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過度設計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20628" y="3408521"/>
              <a:ext cx="174640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替簡單任務堆疊過多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20628" y="3675221"/>
              <a:ext cx="174640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架構、抽象與介面，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20628" y="3941921"/>
              <a:ext cx="174640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把維護成本先做大。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848600" y="2171700"/>
            <a:ext cx="2724150" cy="2609850"/>
            <a:chOff x="7848600" y="2171700"/>
            <a:chExt cx="2724150" cy="2609850"/>
          </a:xfrm>
        </p:grpSpPr>
        <p:sp>
          <p:nvSpPr>
            <p:cNvPr id="32" name="Rectangle 32"/>
            <p:cNvSpPr/>
            <p:nvPr/>
          </p:nvSpPr>
          <p:spPr>
            <a:xfrm>
              <a:off x="7848600" y="2171700"/>
              <a:ext cx="2724150" cy="2609850"/>
            </a:xfrm>
            <a:prstGeom prst="roundRect">
              <a:avLst>
                <a:gd name="adj" fmla="val 6569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848600" y="2171700"/>
              <a:ext cx="2724150" cy="95250"/>
            </a:xfrm>
            <a:prstGeom prst="roundRect">
              <a:avLst>
                <a:gd name="adj" fmla="val 50000"/>
              </a:avLst>
            </a:prstGeom>
            <a:solidFill>
              <a:srgbClr val="E0F974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039100" y="2419350"/>
              <a:ext cx="457200" cy="457200"/>
            </a:xfrm>
            <a:prstGeom prst="ellipse">
              <a:avLst/>
            </a:prstGeom>
            <a:solidFill>
              <a:srgbClr val="F4FBF8"/>
            </a:solidFill>
            <a:ln w="19050">
              <a:solidFill>
                <a:srgbClr val="00AA64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174355" y="25784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26730" y="29546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附帶修改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35302" y="3408521"/>
              <a:ext cx="193643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修一處卻連帶改動無關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35302" y="3675221"/>
              <a:ext cx="21264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模組、縮排與註解風格，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135302" y="3941921"/>
              <a:ext cx="209795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4B5563"/>
                  </a:solidFill>
                  <a:latin typeface="Calibri"/>
                  <a:ea typeface="Microsoft YaHei"/>
                  <a:cs typeface="Calibri"/>
                </a:rPr>
                <a:t>讓 review 被噪音淹沒。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619250" y="5124450"/>
            <a:ext cx="8953500" cy="876300"/>
            <a:chOff x="1619250" y="5124450"/>
            <a:chExt cx="8953500" cy="876300"/>
          </a:xfrm>
        </p:grpSpPr>
        <p:sp>
          <p:nvSpPr>
            <p:cNvPr id="41" name="Rectangle 41"/>
            <p:cNvSpPr/>
            <p:nvPr/>
          </p:nvSpPr>
          <p:spPr>
            <a:xfrm>
              <a:off x="1619250" y="5124450"/>
              <a:ext cx="8953500" cy="876300"/>
            </a:xfrm>
            <a:prstGeom prst="roundRect">
              <a:avLst>
                <a:gd name="adj" fmla="val 19565"/>
              </a:avLst>
            </a:prstGeom>
            <a:solidFill>
              <a:srgbClr val="00AA64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935480" y="5393055"/>
              <a:ext cx="652214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三者共同結果是方向偏差、維護膨脹、審查變慢。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1" grpId="0"/>
      <p:bldP spid="40" grpId="0"/>
      <p:bldP spid="4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-1962150" y="-438150"/>
            <a:ext cx="14154150" cy="7296150"/>
            <a:chOff x="-1962150" y="-438150"/>
            <a:chExt cx="14154150" cy="7296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914400" cy="6858000"/>
            </a:xfrm>
            <a:prstGeom prst="rect">
              <a:avLst/>
            </a:prstGeom>
            <a:gradFill>
              <a:gsLst>
                <a:gs pos="0">
                  <a:srgbClr val="8DECC1"/>
                </a:gs>
                <a:gs pos="100000">
                  <a:srgbClr val="00AA64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371600" y="-438150"/>
              <a:ext cx="2514600" cy="2514600"/>
            </a:xfrm>
            <a:prstGeom prst="ellipse">
              <a:avLst/>
            </a:prstGeom>
            <a:solidFill>
              <a:srgbClr val="C8F9D9">
                <a:alpha val="62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1943100" y="266700"/>
              <a:ext cx="3238500" cy="3238500"/>
            </a:xfrm>
            <a:prstGeom prst="ellipse">
              <a:avLst/>
            </a:prstGeom>
            <a:solidFill>
              <a:srgbClr val="A7F3D0">
                <a:alpha val="420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-1962150" y="1600200"/>
              <a:ext cx="3505200" cy="3505200"/>
            </a:xfrm>
            <a:prstGeom prst="ellipse">
              <a:avLst/>
            </a:prstGeom>
            <a:solidFill>
              <a:srgbClr val="6EE7B7">
                <a:alpha val="24000"/>
              </a:srgbClr>
            </a:solidFill>
            <a:ln>
              <a:noFill/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450" y="6343650"/>
              <a:ext cx="323850" cy="400050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905256" y="848678"/>
            <a:ext cx="9629394" cy="2398966"/>
            <a:chOff x="905256" y="848678"/>
            <a:chExt cx="9629394" cy="2398966"/>
          </a:xfrm>
        </p:grpSpPr>
        <p:sp>
          <p:nvSpPr>
            <p:cNvPr id="9" name="TextBox 9"/>
            <p:cNvSpPr txBox="1"/>
            <p:nvPr/>
          </p:nvSpPr>
          <p:spPr>
            <a:xfrm rot="5400000">
              <a:off x="905256" y="3003804"/>
              <a:ext cx="41452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COST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6865" y="848678"/>
              <a:ext cx="256408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問題的管理成本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619250" y="1381125"/>
              <a:ext cx="8915400" cy="514350"/>
            </a:xfrm>
            <a:prstGeom prst="roundRect">
              <a:avLst>
                <a:gd name="adj" fmla="val 22222"/>
              </a:avLst>
            </a:prstGeom>
            <a:solidFill>
              <a:srgbClr val="F4FBF8"/>
            </a:solidFill>
            <a:ln w="9525">
              <a:solidFill>
                <a:srgbClr val="D7E8DF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828800" y="1543050"/>
              <a:ext cx="602884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這不是單點 bug，而是流程治理成本在團隊與管理層兩端同步浮現。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19250" y="2171700"/>
            <a:ext cx="4267200" cy="3429000"/>
            <a:chOff x="1619250" y="2171700"/>
            <a:chExt cx="4267200" cy="3429000"/>
          </a:xfrm>
        </p:grpSpPr>
        <p:sp>
          <p:nvSpPr>
            <p:cNvPr id="14" name="Rectangle 14"/>
            <p:cNvSpPr/>
            <p:nvPr/>
          </p:nvSpPr>
          <p:spPr>
            <a:xfrm>
              <a:off x="1619250" y="2171700"/>
              <a:ext cx="4267200" cy="3429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619250" y="2171700"/>
              <a:ext cx="4267200" cy="514350"/>
            </a:xfrm>
            <a:prstGeom prst="roundRect">
              <a:avLst>
                <a:gd name="adj" fmla="val 33333"/>
              </a:avLst>
            </a:prstGeom>
            <a:solidFill>
              <a:srgbClr val="00AA6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861185" y="2294572"/>
              <a:ext cx="2233803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對團隊的直接影響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5000" y="3000375"/>
              <a:ext cx="309848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工程師要花時間修正 AI 的錯方向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05000" y="3400425"/>
              <a:ext cx="360854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程式碼體積變大，閱讀與維護成本上升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05000" y="3800475"/>
              <a:ext cx="271843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Review 討論被無關變更稀釋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05000" y="4200525"/>
              <a:ext cx="280844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專案節奏容易被反覆來回拖慢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305550" y="2171700"/>
            <a:ext cx="4267200" cy="3429000"/>
            <a:chOff x="6305550" y="2171700"/>
            <a:chExt cx="4267200" cy="3429000"/>
          </a:xfrm>
        </p:grpSpPr>
        <p:sp>
          <p:nvSpPr>
            <p:cNvPr id="22" name="Rectangle 22"/>
            <p:cNvSpPr/>
            <p:nvPr/>
          </p:nvSpPr>
          <p:spPr>
            <a:xfrm>
              <a:off x="6305550" y="2171700"/>
              <a:ext cx="4267200" cy="3429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305550" y="2171700"/>
              <a:ext cx="4267200" cy="514350"/>
            </a:xfrm>
            <a:prstGeom prst="roundRect">
              <a:avLst>
                <a:gd name="adj" fmla="val 33333"/>
              </a:avLst>
            </a:prstGeom>
            <a:solidFill>
              <a:srgbClr val="2BCB8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47485" y="2294572"/>
              <a:ext cx="196076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對決策層的訊號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91300" y="3000375"/>
              <a:ext cx="339852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這不是單點 bug，而是流程治理問題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91300" y="3400425"/>
              <a:ext cx="300847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缺乏約束會放大模型的不穩定性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91300" y="3800475"/>
              <a:ext cx="34085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工具越普及，治理成本越需要前置化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91300" y="4200525"/>
              <a:ext cx="34085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管理焦點應從工具導入轉向使用規範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-1962150" y="-438150"/>
            <a:ext cx="14154150" cy="7296150"/>
            <a:chOff x="-1962150" y="-438150"/>
            <a:chExt cx="14154150" cy="7296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914400" cy="6858000"/>
            </a:xfrm>
            <a:prstGeom prst="rect">
              <a:avLst/>
            </a:prstGeom>
            <a:gradFill>
              <a:gsLst>
                <a:gs pos="0">
                  <a:srgbClr val="8DECC1"/>
                </a:gs>
                <a:gs pos="100000">
                  <a:srgbClr val="00AA64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371600" y="-438150"/>
              <a:ext cx="2514600" cy="2514600"/>
            </a:xfrm>
            <a:prstGeom prst="ellipse">
              <a:avLst/>
            </a:prstGeom>
            <a:solidFill>
              <a:srgbClr val="C8F9D9">
                <a:alpha val="62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1943100" y="266700"/>
              <a:ext cx="3238500" cy="3238500"/>
            </a:xfrm>
            <a:prstGeom prst="ellipse">
              <a:avLst/>
            </a:prstGeom>
            <a:solidFill>
              <a:srgbClr val="A7F3D0">
                <a:alpha val="420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-1962150" y="1600200"/>
              <a:ext cx="3505200" cy="3505200"/>
            </a:xfrm>
            <a:prstGeom prst="ellipse">
              <a:avLst/>
            </a:prstGeom>
            <a:solidFill>
              <a:srgbClr val="6EE7B7">
                <a:alpha val="24000"/>
              </a:srgbClr>
            </a:solidFill>
            <a:ln>
              <a:noFill/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450" y="6343650"/>
              <a:ext cx="323850" cy="400050"/>
            </a:xfrm>
            <a:prstGeom prst="rect">
              <a:avLst/>
            </a:prstGeom>
          </p:spPr>
        </p:pic>
      </p:grpSp>
      <p:grpSp>
        <p:nvGrpSpPr>
          <p:cNvPr id="11" name="Group 11"/>
          <p:cNvGrpSpPr/>
          <p:nvPr/>
        </p:nvGrpSpPr>
        <p:grpSpPr>
          <a:xfrm>
            <a:off x="733235" y="848678"/>
            <a:ext cx="3417712" cy="2570988"/>
            <a:chOff x="733235" y="848678"/>
            <a:chExt cx="3417712" cy="2570988"/>
          </a:xfrm>
        </p:grpSpPr>
        <p:sp>
          <p:nvSpPr>
            <p:cNvPr id="9" name="TextBox 9"/>
            <p:cNvSpPr txBox="1"/>
            <p:nvPr/>
          </p:nvSpPr>
          <p:spPr>
            <a:xfrm rot="5400000">
              <a:off x="733235" y="3175826"/>
              <a:ext cx="7585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SOLUTION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6865" y="848678"/>
              <a:ext cx="256408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社群給出的解法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19250" y="1409700"/>
            <a:ext cx="8858250" cy="907256"/>
            <a:chOff x="1619250" y="1409700"/>
            <a:chExt cx="8858250" cy="907256"/>
          </a:xfrm>
        </p:grpSpPr>
        <p:sp>
          <p:nvSpPr>
            <p:cNvPr id="12" name="Rectangle 12"/>
            <p:cNvSpPr/>
            <p:nvPr/>
          </p:nvSpPr>
          <p:spPr>
            <a:xfrm>
              <a:off x="1619250" y="1409700"/>
              <a:ext cx="8858250" cy="838200"/>
            </a:xfrm>
            <a:prstGeom prst="roundRect">
              <a:avLst>
                <a:gd name="adj" fmla="val 20455"/>
              </a:avLst>
            </a:prstGeom>
            <a:solidFill>
              <a:srgbClr val="00AA64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936432" y="1591151"/>
              <a:ext cx="4871537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5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用一組低成本、可複製的提示詞約束，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36432" y="1905476"/>
              <a:ext cx="5566199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5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把 AI 從被動執行者變成可治理的協作模組。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619250" y="2628900"/>
            <a:ext cx="8858250" cy="800100"/>
            <a:chOff x="1619250" y="2628900"/>
            <a:chExt cx="8858250" cy="800100"/>
          </a:xfrm>
        </p:grpSpPr>
        <p:sp>
          <p:nvSpPr>
            <p:cNvPr id="16" name="Rectangle 16"/>
            <p:cNvSpPr/>
            <p:nvPr/>
          </p:nvSpPr>
          <p:spPr>
            <a:xfrm>
              <a:off x="1619250" y="2628900"/>
              <a:ext cx="8858250" cy="800100"/>
            </a:xfrm>
            <a:prstGeom prst="roundRect">
              <a:avLst>
                <a:gd name="adj" fmla="val 19048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619250" y="2628900"/>
              <a:ext cx="133350" cy="800100"/>
            </a:xfrm>
            <a:prstGeom prst="roundRect">
              <a:avLst>
                <a:gd name="adj" fmla="val 50000"/>
              </a:avLst>
            </a:prstGeom>
            <a:solidFill>
              <a:srgbClr val="00AA6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980248" y="2935129"/>
              <a:ext cx="5710714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核心做法是把邊界、停損點與驗收方式直接寫進系統提示詞。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19250" y="3638550"/>
            <a:ext cx="8858250" cy="800100"/>
            <a:chOff x="1619250" y="3638550"/>
            <a:chExt cx="8858250" cy="800100"/>
          </a:xfrm>
        </p:grpSpPr>
        <p:sp>
          <p:nvSpPr>
            <p:cNvPr id="20" name="Rectangle 20"/>
            <p:cNvSpPr/>
            <p:nvPr/>
          </p:nvSpPr>
          <p:spPr>
            <a:xfrm>
              <a:off x="1619250" y="3638550"/>
              <a:ext cx="8858250" cy="800100"/>
            </a:xfrm>
            <a:prstGeom prst="roundRect">
              <a:avLst>
                <a:gd name="adj" fmla="val 19048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1619250" y="3638550"/>
              <a:ext cx="133350" cy="800100"/>
            </a:xfrm>
            <a:prstGeom prst="roundRect">
              <a:avLst>
                <a:gd name="adj" fmla="val 50000"/>
              </a:avLst>
            </a:prstGeom>
            <a:solidFill>
              <a:srgbClr val="2BCB8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980248" y="3944779"/>
              <a:ext cx="5847231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這類專案在 GitHub 快速累積高關注度，反映需求具有普遍性。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619250" y="4648200"/>
            <a:ext cx="8858250" cy="800100"/>
            <a:chOff x="1619250" y="4648200"/>
            <a:chExt cx="8858250" cy="800100"/>
          </a:xfrm>
        </p:grpSpPr>
        <p:sp>
          <p:nvSpPr>
            <p:cNvPr id="24" name="Rectangle 24"/>
            <p:cNvSpPr/>
            <p:nvPr/>
          </p:nvSpPr>
          <p:spPr>
            <a:xfrm>
              <a:off x="1619250" y="4648200"/>
              <a:ext cx="8858250" cy="800100"/>
            </a:xfrm>
            <a:prstGeom prst="roundRect">
              <a:avLst>
                <a:gd name="adj" fmla="val 19048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619250" y="4648200"/>
              <a:ext cx="133350" cy="800100"/>
            </a:xfrm>
            <a:prstGeom prst="roundRect">
              <a:avLst>
                <a:gd name="adj" fmla="val 50000"/>
              </a:avLst>
            </a:prstGeom>
            <a:solidFill>
              <a:srgbClr val="E0F97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980248" y="4954429"/>
              <a:ext cx="613076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優勢在於導入門檻低，不必改模型，也不必先建構複雜基礎設施。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-1962150" y="-438150"/>
            <a:ext cx="14154150" cy="7296150"/>
            <a:chOff x="-1962150" y="-438150"/>
            <a:chExt cx="14154150" cy="7296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914400" cy="6858000"/>
            </a:xfrm>
            <a:prstGeom prst="rect">
              <a:avLst/>
            </a:prstGeom>
            <a:gradFill>
              <a:gsLst>
                <a:gs pos="0">
                  <a:srgbClr val="8DECC1"/>
                </a:gs>
                <a:gs pos="100000">
                  <a:srgbClr val="00AA64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371600" y="-438150"/>
              <a:ext cx="2514600" cy="2514600"/>
            </a:xfrm>
            <a:prstGeom prst="ellipse">
              <a:avLst/>
            </a:prstGeom>
            <a:solidFill>
              <a:srgbClr val="C8F9D9">
                <a:alpha val="62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1943100" y="266700"/>
              <a:ext cx="3238500" cy="3238500"/>
            </a:xfrm>
            <a:prstGeom prst="ellipse">
              <a:avLst/>
            </a:prstGeom>
            <a:solidFill>
              <a:srgbClr val="A7F3D0">
                <a:alpha val="420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-1962150" y="1600200"/>
              <a:ext cx="3505200" cy="3505200"/>
            </a:xfrm>
            <a:prstGeom prst="ellipse">
              <a:avLst/>
            </a:prstGeom>
            <a:solidFill>
              <a:srgbClr val="6EE7B7">
                <a:alpha val="24000"/>
              </a:srgbClr>
            </a:solidFill>
            <a:ln>
              <a:noFill/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450" y="6343650"/>
              <a:ext cx="323850" cy="400050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697230" y="848678"/>
            <a:ext cx="9837420" cy="2606992"/>
            <a:chOff x="697230" y="848678"/>
            <a:chExt cx="9837420" cy="2606992"/>
          </a:xfrm>
        </p:grpSpPr>
        <p:sp>
          <p:nvSpPr>
            <p:cNvPr id="9" name="TextBox 9"/>
            <p:cNvSpPr txBox="1"/>
            <p:nvPr/>
          </p:nvSpPr>
          <p:spPr>
            <a:xfrm rot="5400000">
              <a:off x="697230" y="3211830"/>
              <a:ext cx="8305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PRINCIPLES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6865" y="848678"/>
              <a:ext cx="220703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11827"/>
                  </a:solidFill>
                  <a:latin typeface="Calibri Light"/>
                  <a:ea typeface="Microsoft YaHei"/>
                  <a:cs typeface="Calibri Light"/>
                </a:rPr>
                <a:t>四大約束原則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619250" y="1381125"/>
              <a:ext cx="8915400" cy="514350"/>
            </a:xfrm>
            <a:prstGeom prst="roundRect">
              <a:avLst>
                <a:gd name="adj" fmla="val 22222"/>
              </a:avLst>
            </a:prstGeom>
            <a:solidFill>
              <a:srgbClr val="F4FBF8"/>
            </a:solidFill>
            <a:ln w="9525">
              <a:solidFill>
                <a:srgbClr val="D7E8DF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828800" y="1543050"/>
              <a:ext cx="54687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把設計原則翻譯成管理要求，AI 協作才會從建議升級成制度。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19250" y="2171700"/>
            <a:ext cx="4267200" cy="3793331"/>
            <a:chOff x="1619250" y="2171700"/>
            <a:chExt cx="4267200" cy="3793331"/>
          </a:xfrm>
        </p:grpSpPr>
        <p:sp>
          <p:nvSpPr>
            <p:cNvPr id="14" name="Rectangle 14"/>
            <p:cNvSpPr/>
            <p:nvPr/>
          </p:nvSpPr>
          <p:spPr>
            <a:xfrm>
              <a:off x="1619250" y="2171700"/>
              <a:ext cx="4267200" cy="37719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619250" y="2171700"/>
              <a:ext cx="4267200" cy="514350"/>
            </a:xfrm>
            <a:prstGeom prst="roundRect">
              <a:avLst>
                <a:gd name="adj" fmla="val 33333"/>
              </a:avLst>
            </a:prstGeom>
            <a:solidFill>
              <a:srgbClr val="00AA6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861185" y="2294572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設計原則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5952" y="2989421"/>
              <a:ext cx="215115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01 Think Before Coding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05952" y="3275171"/>
              <a:ext cx="231648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需求未清楚前先停下來確認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05952" y="3789521"/>
              <a:ext cx="2290827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02 No Over-engineering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05952" y="4075271"/>
              <a:ext cx="21264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只做當下真正需要的解法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05952" y="4589621"/>
              <a:ext cx="257016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03 Targeted Modifications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05952" y="4875371"/>
              <a:ext cx="25065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只改與任務直接相關的程式碼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05952" y="5389721"/>
              <a:ext cx="2819568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AA64"/>
                  </a:solidFill>
                  <a:latin typeface="Calibri"/>
                  <a:ea typeface="Microsoft YaHei"/>
                  <a:cs typeface="Calibri"/>
                </a:rPr>
                <a:t>04 Outcome-based Execution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05952" y="5675471"/>
              <a:ext cx="21264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以驗收標準驅動修正流程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305550" y="2171700"/>
            <a:ext cx="4267200" cy="3771900"/>
            <a:chOff x="6305550" y="2171700"/>
            <a:chExt cx="4267200" cy="3771900"/>
          </a:xfrm>
        </p:grpSpPr>
        <p:sp>
          <p:nvSpPr>
            <p:cNvPr id="26" name="Rectangle 26"/>
            <p:cNvSpPr/>
            <p:nvPr/>
          </p:nvSpPr>
          <p:spPr>
            <a:xfrm>
              <a:off x="6305550" y="2171700"/>
              <a:ext cx="4267200" cy="37719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9525">
              <a:solidFill>
                <a:srgbClr val="D7E8D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305550" y="2171700"/>
              <a:ext cx="4267200" cy="514350"/>
            </a:xfrm>
            <a:prstGeom prst="roundRect">
              <a:avLst>
                <a:gd name="adj" fmla="val 33333"/>
              </a:avLst>
            </a:prstGeom>
            <a:solidFill>
              <a:srgbClr val="2BCB8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47485" y="2294572"/>
              <a:ext cx="2233803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可落地的管理要求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92252" y="2989421"/>
              <a:ext cx="342811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模糊需求必須先澄清，不允許自動假設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92252" y="3503771"/>
              <a:ext cx="323809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禁止預先為未來延展性堆疊過多架構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92252" y="4018121"/>
              <a:ext cx="3048071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禁止局部修復時順手重構無關區塊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92252" y="4532471"/>
              <a:ext cx="380816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Calibri"/>
                  <a:ea typeface="Microsoft YaHei"/>
                  <a:cs typeface="Calibri"/>
                </a:rPr>
                <a:t>• 優先要求可驗證結果，例如先補測試再修正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72A">
                <a:alpha val="22000"/>
              </a:srgbClr>
            </a:solidFill>
            <a:ln>
              <a:noFill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876300" y="2133600"/>
            <a:ext cx="7810500" cy="2324100"/>
            <a:chOff x="876300" y="2133600"/>
            <a:chExt cx="7810500" cy="2324100"/>
          </a:xfrm>
        </p:grpSpPr>
        <p:sp>
          <p:nvSpPr>
            <p:cNvPr id="5" name="Rectangle 5"/>
            <p:cNvSpPr/>
            <p:nvPr/>
          </p:nvSpPr>
          <p:spPr>
            <a:xfrm>
              <a:off x="876300" y="2133600"/>
              <a:ext cx="7810500" cy="2324100"/>
            </a:xfrm>
            <a:prstGeom prst="roundRect">
              <a:avLst>
                <a:gd name="adj" fmla="val 9836"/>
              </a:avLst>
            </a:prstGeom>
            <a:solidFill>
              <a:srgbClr val="0F172A">
                <a:alpha val="38000"/>
              </a:srgbClr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224915" y="2601278"/>
              <a:ext cx="486702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真正可規模化的 AI 開發能力，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224915" y="3058478"/>
              <a:ext cx="470635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來自明確規則、可驗證結果，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24915" y="35156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FFFFFF"/>
                  </a:solidFill>
                  <a:latin typeface="Calibri Light"/>
                  <a:ea typeface="Microsoft YaHei"/>
                  <a:cs typeface="Calibri Light"/>
                </a:rPr>
                <a:t>以及對修改邊界的共同紀律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9202" y="3922871"/>
              <a:ext cx="531885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FFFFFF"/>
                  </a:solidFill>
                  <a:latin typeface="Calibri"/>
                  <a:ea typeface="Microsoft YaHei"/>
                  <a:cs typeface="Calibri"/>
                </a:rPr>
                <a:t>Clear rules. Verifiable outcomes. Disciplined boundaries.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