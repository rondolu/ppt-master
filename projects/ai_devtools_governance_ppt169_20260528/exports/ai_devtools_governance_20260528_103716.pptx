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40" autoAdjust="0"/>
  </p:normalViewPr>
  <p:slideViewPr>
    <p:cSldViewPr snapToGrid="0" snapToObjects="1">
      <p:cViewPr varScale="1">
        <p:scale>
          <a:sx n="61" d="100"/>
          <a:sy n="61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36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今天這份簡報的核心觀點很直接，AI 參與程式開發之後，真正決定效率與品質的，不只是模型能力，而是協作邊界設計得夠不夠精確。這裡我們不是從理論出發，而是從 GitHub 上高關注的提示詞治理實踐切入，觀察哪些規則能把 AI 從不穩定的執行者，變成可管理的協作模組。</a:t>
            </a:r>
          </a:p>
          <a:p>
            <a:endParaRPr lang="zh-CN" dirty="0"/>
          </a:p>
          <a:p>
            <a:r>
              <a:rPr lang="zh-CN" dirty="0"/>
              <a:t>接下來七頁，我會先說明為什麼這件事值得關注，再拆解常見失效點，最後收斂到一組可執行的治理原則。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最重要的一句話是，當 AI 開始參與程式開發，真正決定效率與品質的，是協作規則是否足夠精確。換句話說，影響產出穩定性的關鍵，不在於模型會不會寫程式，而在於團隊有沒有事先定義清楚什麼時候要停下來確認、什麼不能順手改、以及什麼叫做完成。</a:t>
            </a:r>
          </a:p>
          <a:p>
            <a:endParaRPr lang="zh-CN" dirty="0"/>
          </a:p>
          <a:p>
            <a:r>
              <a:rPr lang="zh-CN" dirty="0"/>
              <a:t>如果沒有這些規則，AI 看起來像在加速，實際上是在把錯誤成本延後到 review 與維護階段才爆出來。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從實務觀察來看，最常見的失效點可以濃縮成三類，而且它們通常不是分開出現。第一類是需求還不清楚時就直接選路徑執行，方向一開始就偏掉。第二類是為了簡單任務提前堆疊過多架構，讓系統還沒變複雜，維護成本先變複雜。第三類是局部修復時連帶改動無關區塊，讓 review 的焦點被噪音沖散。</a:t>
            </a:r>
          </a:p>
          <a:p>
            <a:endParaRPr lang="zh-CN" dirty="0"/>
          </a:p>
          <a:p>
            <a:r>
              <a:rPr lang="zh-CN" dirty="0"/>
              <a:t>三者合在一起，最後會把團隊拖向方向偏差、維護膨脹與審查變慢。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這件事的成本其實同時落在工程端與管理端。對工程團隊來說，最直接的感受是要花時間把 AI 拉回正確方向，程式碼量變大，review 時也更難抓到真正重要的差異。對決策層來說，這代表問題不是單一 bug，而是使用 AI 的流程治理還沒有建立起來。</a:t>
            </a:r>
          </a:p>
          <a:p>
            <a:endParaRPr lang="zh-CN" dirty="0"/>
          </a:p>
          <a:p>
            <a:r>
              <a:rPr lang="zh-CN" dirty="0"/>
              <a:t>也就是說，工具越普及，治理成本就越不能放到最後才補，而是要前置到協作規則的設計裡。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社群目前給出的解法並不昂貴，但很有效，就是把邊界、停損點與驗收方式直接寫進系統提示詞與工作流程裡。這類做法之所以快速累積關注，是因為它不要求團隊先改模型，也不要求先建構新的大型基礎設施，而是先用規則把 AI 的輸出穩定下來。</a:t>
            </a:r>
          </a:p>
          <a:p>
            <a:endParaRPr lang="zh-CN" dirty="0"/>
          </a:p>
          <a:p>
            <a:r>
              <a:rPr lang="zh-CN" dirty="0"/>
              <a:t>從治理角度看，這一步很重要，因為它把 AI 從一個不可預測的助手，轉成一個行為邊界清楚的協作角色。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  <p:extLst>
      <p:ext uri="{BB962C8B-B14F-4D97-AF65-F5344CB8AC3E}">
        <p14:creationId xmlns:p14="http://schemas.microsoft.com/office/powerpoint/2010/main" val="3805968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  <p:extLst>
      <p:ext uri="{BB962C8B-B14F-4D97-AF65-F5344CB8AC3E}">
        <p14:creationId xmlns:p14="http://schemas.microsoft.com/office/powerpoint/2010/main" val="460400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  <p:extLst>
      <p:ext uri="{BB962C8B-B14F-4D97-AF65-F5344CB8AC3E}">
        <p14:creationId xmlns:p14="http://schemas.microsoft.com/office/powerpoint/2010/main" val="835832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如果要把這些想法落成團隊規則，可以整理成四個約束原則。第一，需求未清楚前先確認，也就是 think before coding。第二，只做當下需要的解法，不為假想未來過度設計。第三，只改與任務直接相關的程式碼，不讓局部修復擴散成無關重構。第四，用可驗證的結果驅動執行，例如先補測試、再修正行為。</a:t>
            </a:r>
          </a:p>
          <a:p>
            <a:endParaRPr lang="zh-CN" dirty="0"/>
          </a:p>
          <a:p>
            <a:r>
              <a:rPr lang="zh-CN" dirty="0"/>
              <a:t>管理上對應的要求就很清楚了，模糊需求先澄清、禁止預先堆疊架構、禁止順手修改無關區塊，並且優先要求可驗證成果。</a:t>
            </a:r>
          </a:p>
        </p:txBody>
      </p:sp>
    </p:spTree>
    <p:extLst>
      <p:ext uri="{BB962C8B-B14F-4D97-AF65-F5344CB8AC3E}">
        <p14:creationId xmlns:p14="http://schemas.microsoft.com/office/powerpoint/2010/main" val="4044491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最後想留下的結論是，真正可規模化的 AI 開發能力，不是建立在更強的自動化幻覺上，而是建立在更明確的規則、更可驗證的結果，以及對修改邊界的共同紀律上。當團隊把這三件事講清楚，AI 才會從偶爾有效，變成可以持續複製的生產力系統。</a:t>
            </a:r>
          </a:p>
          <a:p>
            <a:endParaRPr lang="zh-CN" dirty="0"/>
          </a:p>
          <a:p>
            <a:r>
              <a:rPr lang="zh-CN" dirty="0"/>
              <a:t>這也是 AI 輔助開發治理真正要處理的問題。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70610" y="2019836"/>
            <a:ext cx="3779881" cy="1292662"/>
            <a:chOff x="1070610" y="1508760"/>
            <a:chExt cx="2605538" cy="1292662"/>
          </a:xfrm>
        </p:grpSpPr>
        <p:sp>
          <p:nvSpPr>
            <p:cNvPr id="3" name="TextBox 3"/>
            <p:cNvSpPr txBox="1"/>
            <p:nvPr/>
          </p:nvSpPr>
          <p:spPr>
            <a:xfrm>
              <a:off x="1070610" y="1508760"/>
              <a:ext cx="2605538" cy="1292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42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AI 輔助開發</a:t>
              </a:r>
              <a:r>
                <a:rPr lang="zh-CN" altLang="zh-TW" sz="42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治理</a:t>
              </a:r>
            </a:p>
            <a:p>
              <a:pPr algn="l"/>
              <a:endParaRPr lang="zh-CN" sz="4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0610" y="2042160"/>
              <a:ext cx="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42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8242" y="3071336"/>
            <a:ext cx="4548353" cy="695802"/>
            <a:chOff x="1178242" y="3071336"/>
            <a:chExt cx="4548353" cy="695802"/>
          </a:xfrm>
        </p:grpSpPr>
        <p:sp>
          <p:nvSpPr>
            <p:cNvPr id="6" name="TextBox 6"/>
            <p:cNvSpPr txBox="1"/>
            <p:nvPr/>
          </p:nvSpPr>
          <p:spPr>
            <a:xfrm>
              <a:off x="1178242" y="3071336"/>
              <a:ext cx="454835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從 GitHub 萬星提示詞專案看協作邊界設計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83005" y="3492818"/>
              <a:ext cx="4183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An operational view inspired by Andrej Karpathy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3948" y="6086475"/>
            <a:ext cx="9945052" cy="409575"/>
            <a:chOff x="1103948" y="6086475"/>
            <a:chExt cx="9945052" cy="409575"/>
          </a:xfrm>
        </p:grpSpPr>
        <p:sp>
          <p:nvSpPr>
            <p:cNvPr id="9" name="TextBox 9"/>
            <p:cNvSpPr txBox="1"/>
            <p:nvPr/>
          </p:nvSpPr>
          <p:spPr>
            <a:xfrm>
              <a:off x="1103948" y="6154579"/>
              <a:ext cx="23397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2026年  AI 協作治理簡報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25150" y="6096000"/>
              <a:ext cx="323850" cy="400050"/>
            </a:xfrm>
            <a:prstGeom prst="rect">
              <a:avLst/>
            </a:prstGeom>
          </p:spPr>
        </p:pic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3050" y="6086475"/>
              <a:ext cx="1657350" cy="40957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>
                <a:alpha val="22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85635" y="2214589"/>
            <a:ext cx="6009990" cy="1638300"/>
            <a:chOff x="1104900" y="2057400"/>
            <a:chExt cx="4696778" cy="1638300"/>
          </a:xfrm>
        </p:grpSpPr>
        <p:sp>
          <p:nvSpPr>
            <p:cNvPr id="8" name="TextBox 8"/>
            <p:cNvSpPr txBox="1"/>
            <p:nvPr/>
          </p:nvSpPr>
          <p:spPr>
            <a:xfrm>
              <a:off x="1104900" y="2057400"/>
              <a:ext cx="337863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當 AI 開始參與程式開發</a:t>
              </a:r>
              <a:r>
                <a:rPr lang="zh-TW" altLang="en-US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，</a:t>
              </a:r>
              <a:endParaRPr lang="zh-CN" sz="30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4900" y="2571750"/>
              <a:ext cx="33072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真正決定效率與品質的</a:t>
              </a:r>
              <a:r>
                <a:rPr lang="zh-TW" altLang="en-US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，</a:t>
              </a:r>
              <a:endParaRPr lang="zh-CN" sz="30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4900" y="308610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是協作規則是否足夠精確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380" y="4285814"/>
            <a:ext cx="7309001" cy="1143925"/>
            <a:chOff x="1143000" y="4591050"/>
            <a:chExt cx="6438900" cy="723900"/>
          </a:xfrm>
        </p:grpSpPr>
        <p:sp>
          <p:nvSpPr>
            <p:cNvPr id="12" name="Rectangle 12"/>
            <p:cNvSpPr/>
            <p:nvPr/>
          </p:nvSpPr>
          <p:spPr>
            <a:xfrm>
              <a:off x="1143000" y="4591050"/>
              <a:ext cx="6438900" cy="723900"/>
            </a:xfrm>
            <a:prstGeom prst="roundRect">
              <a:avLst>
                <a:gd name="adj" fmla="val 18421"/>
              </a:avLst>
            </a:prstGeom>
            <a:solidFill>
              <a:srgbClr val="00AA64">
                <a:alpha val="8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9698" y="4864012"/>
              <a:ext cx="5750251" cy="194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核心不是多加一個工具，而是讓 AI 在明確邊界內穩定協作。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2152650" y="-377875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269" y="6088380"/>
              <a:ext cx="499654" cy="61722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90600" y="848678"/>
            <a:ext cx="9544050" cy="2500312"/>
            <a:chOff x="990600" y="848678"/>
            <a:chExt cx="9544050" cy="250031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897255" y="3011805"/>
              <a:ext cx="4305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RISKS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目前最常見的三個失效點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33966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Andrej </a:t>
              </a:r>
              <a:r>
                <a:rPr lang="en-US" altLang="zh-CN" sz="1500" dirty="0" err="1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Karpathy</a:t>
              </a:r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 指出的三大風險，會直接拉高開發與審查成本。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45908" y="2164080"/>
            <a:ext cx="2877025" cy="2646045"/>
            <a:chOff x="1466375" y="2171700"/>
            <a:chExt cx="2877025" cy="2646045"/>
          </a:xfrm>
        </p:grpSpPr>
        <p:sp>
          <p:nvSpPr>
            <p:cNvPr id="14" name="Rectangle 14"/>
            <p:cNvSpPr/>
            <p:nvPr/>
          </p:nvSpPr>
          <p:spPr>
            <a:xfrm>
              <a:off x="1466375" y="2207895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0975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45005" y="2550795"/>
              <a:ext cx="194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7380" y="2954655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altLang="en-US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盲目</a:t>
              </a:r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假設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需求仍有歧義時，不先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36752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澄清就直接執行，導致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方向一開始就偏掉。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33925" y="2171700"/>
            <a:ext cx="2724150" cy="2609850"/>
            <a:chOff x="4733925" y="2171700"/>
            <a:chExt cx="2724150" cy="2609850"/>
          </a:xfrm>
        </p:grpSpPr>
        <p:sp>
          <p:nvSpPr>
            <p:cNvPr id="23" name="Rectangle 23"/>
            <p:cNvSpPr/>
            <p:nvPr/>
          </p:nvSpPr>
          <p:spPr>
            <a:xfrm>
              <a:off x="4733925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33925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24425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2BCB8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9680" y="2550795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12055" y="29546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過度設計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0628" y="34085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替簡單任務堆疊過多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0628" y="36752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架構、抽象與介面，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0628" y="3941921"/>
              <a:ext cx="17464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把維護成本先做大。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848600" y="2171700"/>
            <a:ext cx="2724150" cy="2609850"/>
            <a:chOff x="7848600" y="2171700"/>
            <a:chExt cx="2724150" cy="2609850"/>
          </a:xfrm>
        </p:grpSpPr>
        <p:sp>
          <p:nvSpPr>
            <p:cNvPr id="32" name="Rectangle 32"/>
            <p:cNvSpPr/>
            <p:nvPr/>
          </p:nvSpPr>
          <p:spPr>
            <a:xfrm>
              <a:off x="7848600" y="2171700"/>
              <a:ext cx="2724150" cy="2609850"/>
            </a:xfrm>
            <a:prstGeom prst="roundRect">
              <a:avLst>
                <a:gd name="adj" fmla="val 6569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8600" y="2171700"/>
              <a:ext cx="2724150" cy="9525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39100" y="2419350"/>
              <a:ext cx="457200" cy="457200"/>
            </a:xfrm>
            <a:prstGeom prst="ellipse">
              <a:avLst/>
            </a:prstGeom>
            <a:solidFill>
              <a:srgbClr val="F4FBF8"/>
            </a:solidFill>
            <a:ln w="19050">
              <a:solidFill>
                <a:srgbClr val="00AA6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74355" y="2533650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4443" y="2965132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附帶修改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35302" y="340852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修一處卻連帶改動無關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5302" y="367522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模組、縮排與註解風格，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5302" y="3941921"/>
              <a:ext cx="209795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4B5563"/>
                  </a:solidFill>
                  <a:latin typeface="Calibri"/>
                  <a:ea typeface="Microsoft YaHei"/>
                  <a:cs typeface="Calibri"/>
                </a:rPr>
                <a:t>讓 review 被噪音淹沒。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19250" y="5124450"/>
            <a:ext cx="8953500" cy="876300"/>
            <a:chOff x="1619250" y="5124450"/>
            <a:chExt cx="8953500" cy="876300"/>
          </a:xfrm>
        </p:grpSpPr>
        <p:sp>
          <p:nvSpPr>
            <p:cNvPr id="41" name="Rectangle 41"/>
            <p:cNvSpPr/>
            <p:nvPr/>
          </p:nvSpPr>
          <p:spPr>
            <a:xfrm>
              <a:off x="1619250" y="5124450"/>
              <a:ext cx="8953500" cy="876300"/>
            </a:xfrm>
            <a:prstGeom prst="roundRect">
              <a:avLst>
                <a:gd name="adj" fmla="val 1956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35480" y="5393055"/>
              <a:ext cx="6522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三者共同結果是方向偏差、維護膨脹、審查變慢。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05256" y="848678"/>
            <a:ext cx="9629394" cy="2398966"/>
            <a:chOff x="905256" y="848678"/>
            <a:chExt cx="9629394" cy="2398966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905256" y="3003804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問題的管理成本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0288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這不是單點 bug，而是流程治理成本在團隊與管理層兩端同步浮現。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19250" y="2171700"/>
            <a:ext cx="4267200" cy="3429000"/>
            <a:chOff x="1619250" y="2171700"/>
            <a:chExt cx="4267200" cy="3429000"/>
          </a:xfrm>
        </p:grpSpPr>
        <p:sp>
          <p:nvSpPr>
            <p:cNvPr id="14" name="Rectangle 14"/>
            <p:cNvSpPr/>
            <p:nvPr/>
          </p:nvSpPr>
          <p:spPr>
            <a:xfrm>
              <a:off x="16192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對團隊的直接影響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000" y="3000375"/>
              <a:ext cx="30984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工程師要花時間修正 AI 的錯方向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000" y="3400425"/>
              <a:ext cx="36085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程式碼體積變大，閱讀與維護成本上升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000" y="3800475"/>
              <a:ext cx="27184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Review 討論被無關變更稀釋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000" y="4200525"/>
              <a:ext cx="28084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專案節奏容易被反覆來回拖慢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05550" y="2171700"/>
            <a:ext cx="4267200" cy="3429000"/>
            <a:chOff x="6305550" y="2171700"/>
            <a:chExt cx="42672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305550" y="2171700"/>
              <a:ext cx="4267200" cy="3429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7485" y="2294572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對決策層的訊號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91300" y="3000375"/>
              <a:ext cx="33985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這不是單點 bug，而是流程治理問題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91300" y="340042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缺乏約束會放大模型的不穩定性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91300" y="380047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工具越普及，治理成本越需要前置化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1300" y="4200525"/>
              <a:ext cx="34085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管理焦點應從工具導入轉向使用規範</a:t>
              </a:r>
            </a:p>
          </p:txBody>
        </p:sp>
      </p:grpSp>
      <p:pic>
        <p:nvPicPr>
          <p:cNvPr id="30" name="Image 7">
            <a:extLst>
              <a:ext uri="{FF2B5EF4-FFF2-40B4-BE49-F238E27FC236}">
                <a16:creationId xmlns:a16="http://schemas.microsoft.com/office/drawing/2014/main" id="{2C1C2E0E-3E28-96C4-F437-44A2AD406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33235" y="848678"/>
            <a:ext cx="3417712" cy="2570988"/>
            <a:chOff x="733235" y="848678"/>
            <a:chExt cx="3417712" cy="2570988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733235" y="3175826"/>
              <a:ext cx="758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社群給出的解法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9250" y="1409700"/>
            <a:ext cx="8858250" cy="907256"/>
            <a:chOff x="1619250" y="1409700"/>
            <a:chExt cx="8858250" cy="907256"/>
          </a:xfrm>
        </p:grpSpPr>
        <p:sp>
          <p:nvSpPr>
            <p:cNvPr id="12" name="Rectangle 12"/>
            <p:cNvSpPr/>
            <p:nvPr/>
          </p:nvSpPr>
          <p:spPr>
            <a:xfrm>
              <a:off x="1619250" y="1409700"/>
              <a:ext cx="8858250" cy="838200"/>
            </a:xfrm>
            <a:prstGeom prst="roundRect">
              <a:avLst>
                <a:gd name="adj" fmla="val 20455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36432" y="1591151"/>
              <a:ext cx="487153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用一組低成本、可複製的提示詞約束，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36432" y="1905476"/>
              <a:ext cx="556619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把 AI 從被動執行者變成可治理的協作模組。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19250" y="2628900"/>
            <a:ext cx="8858250" cy="800100"/>
            <a:chOff x="1619250" y="2628900"/>
            <a:chExt cx="8858250" cy="800100"/>
          </a:xfrm>
        </p:grpSpPr>
        <p:sp>
          <p:nvSpPr>
            <p:cNvPr id="16" name="Rectangle 16"/>
            <p:cNvSpPr/>
            <p:nvPr/>
          </p:nvSpPr>
          <p:spPr>
            <a:xfrm>
              <a:off x="1619250" y="26289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6289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80248" y="2935129"/>
              <a:ext cx="57107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核心做法是把邊界、停損點與驗收方式直接寫進系統提示詞。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19250" y="3638550"/>
            <a:ext cx="8858250" cy="800100"/>
            <a:chOff x="1619250" y="3638550"/>
            <a:chExt cx="8858250" cy="800100"/>
          </a:xfrm>
        </p:grpSpPr>
        <p:sp>
          <p:nvSpPr>
            <p:cNvPr id="20" name="Rectangle 20"/>
            <p:cNvSpPr/>
            <p:nvPr/>
          </p:nvSpPr>
          <p:spPr>
            <a:xfrm>
              <a:off x="1619250" y="363855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363855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0248" y="3944779"/>
              <a:ext cx="584723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這類專案在 GitHub 快速累積高關注度，反映需求具有普遍性。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4648200"/>
            <a:ext cx="8858250" cy="800100"/>
            <a:chOff x="1619250" y="4648200"/>
            <a:chExt cx="8858250" cy="800100"/>
          </a:xfrm>
        </p:grpSpPr>
        <p:sp>
          <p:nvSpPr>
            <p:cNvPr id="24" name="Rectangle 24"/>
            <p:cNvSpPr/>
            <p:nvPr/>
          </p:nvSpPr>
          <p:spPr>
            <a:xfrm>
              <a:off x="1619250" y="4648200"/>
              <a:ext cx="8858250" cy="80010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4648200"/>
              <a:ext cx="133350" cy="800100"/>
            </a:xfrm>
            <a:prstGeom prst="roundRect">
              <a:avLst>
                <a:gd name="adj" fmla="val 50000"/>
              </a:avLst>
            </a:prstGeom>
            <a:solidFill>
              <a:srgbClr val="E0F97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0248" y="4954429"/>
              <a:ext cx="613076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優勢在於導入門檻低，不必改模型，也不必先建構複雜基礎設施。</a:t>
              </a:r>
            </a:p>
          </p:txBody>
        </p:sp>
      </p:grpSp>
      <p:pic>
        <p:nvPicPr>
          <p:cNvPr id="28" name="Image 7">
            <a:extLst>
              <a:ext uri="{FF2B5EF4-FFF2-40B4-BE49-F238E27FC236}">
                <a16:creationId xmlns:a16="http://schemas.microsoft.com/office/drawing/2014/main" id="{A8FBC38F-EC02-E948-7494-8FE9AD230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97230" y="848678"/>
            <a:ext cx="9837420" cy="2606992"/>
            <a:chOff x="697230" y="848678"/>
            <a:chExt cx="9837420" cy="260699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四大約束原則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19250" y="1381125"/>
              <a:ext cx="8915400" cy="514350"/>
            </a:xfrm>
            <a:prstGeom prst="roundRect">
              <a:avLst>
                <a:gd name="adj" fmla="val 22222"/>
              </a:avLst>
            </a:prstGeom>
            <a:solidFill>
              <a:srgbClr val="F4FBF8"/>
            </a:solidFill>
            <a:ln w="9525">
              <a:solidFill>
                <a:srgbClr val="D7E8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54687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把設計原則翻譯成管理要求，AI 協作才會從建議升級成制度。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19250" y="2139315"/>
            <a:ext cx="4308253" cy="3771900"/>
            <a:chOff x="1619250" y="2139315"/>
            <a:chExt cx="4308253" cy="3771900"/>
          </a:xfrm>
        </p:grpSpPr>
        <p:sp>
          <p:nvSpPr>
            <p:cNvPr id="14" name="Rectangle 14"/>
            <p:cNvSpPr/>
            <p:nvPr/>
          </p:nvSpPr>
          <p:spPr>
            <a:xfrm>
              <a:off x="1660303" y="2139315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6192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00AA6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61185" y="2294572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設計原則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952" y="2989421"/>
              <a:ext cx="215115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01 Think Before Coding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5952" y="3275171"/>
              <a:ext cx="23164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需求未清楚前先停下來確認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5952" y="3789521"/>
              <a:ext cx="1377493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02</a:t>
              </a:r>
              <a:r>
                <a:rPr lang="zh-TW" altLang="en-US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 </a:t>
              </a:r>
              <a:r>
                <a:rPr lang="en-US" alt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Simplicity First</a:t>
              </a:r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05952" y="407527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只做當下真正需要的解法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952" y="4589621"/>
              <a:ext cx="1488806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03 </a:t>
              </a:r>
              <a:r>
                <a:rPr lang="en-US" alt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Surgical Changes</a:t>
              </a:r>
              <a:endParaRPr lang="zh-CN" sz="1425" b="1" dirty="0">
                <a:solidFill>
                  <a:srgbClr val="00AA64"/>
                </a:solidFill>
                <a:latin typeface="Calibri"/>
                <a:ea typeface="Microsoft YaHei"/>
                <a:cs typeface="Calibri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5952" y="487537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只改與任務直接相關的程式碼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05952" y="5332095"/>
              <a:ext cx="1956048" cy="219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04</a:t>
              </a:r>
              <a:r>
                <a:rPr lang="zh-TW" altLang="en-US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 </a:t>
              </a:r>
              <a:r>
                <a:rPr lang="en-US" altLang="zh-CN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Goal-Driven Execution</a:t>
              </a:r>
              <a:r>
                <a:rPr lang="zh-TW" altLang="en-US" sz="1425" b="1" dirty="0">
                  <a:solidFill>
                    <a:srgbClr val="00AA64"/>
                  </a:solidFill>
                  <a:latin typeface="Calibri"/>
                  <a:ea typeface="Microsoft YaHei"/>
                  <a:cs typeface="Calibri"/>
                </a:rPr>
                <a:t> </a:t>
              </a:r>
              <a:endParaRPr lang="zh-CN" sz="1425" b="1" dirty="0">
                <a:solidFill>
                  <a:srgbClr val="00AA64"/>
                </a:solidFill>
                <a:latin typeface="Calibri"/>
                <a:ea typeface="Microsoft YaHei"/>
                <a:cs typeface="Calibr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5952" y="5621655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以驗收標準驅動修正流程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05550" y="2171700"/>
            <a:ext cx="4267200" cy="3771900"/>
            <a:chOff x="6305550" y="2171700"/>
            <a:chExt cx="4267200" cy="3771900"/>
          </a:xfrm>
        </p:grpSpPr>
        <p:sp>
          <p:nvSpPr>
            <p:cNvPr id="26" name="Rectangle 26"/>
            <p:cNvSpPr/>
            <p:nvPr/>
          </p:nvSpPr>
          <p:spPr>
            <a:xfrm>
              <a:off x="6305550" y="2171700"/>
              <a:ext cx="4267200" cy="37719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9525">
              <a:solidFill>
                <a:srgbClr val="D7E8D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05550" y="2171700"/>
              <a:ext cx="4267200" cy="514350"/>
            </a:xfrm>
            <a:prstGeom prst="roundRect">
              <a:avLst>
                <a:gd name="adj" fmla="val 33333"/>
              </a:avLst>
            </a:prstGeom>
            <a:solidFill>
              <a:srgbClr val="2BCB8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7485" y="2294572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可落地的管理要求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2252" y="2989421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模糊需求必須先澄清，不允許自動假設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88741" y="3800553"/>
              <a:ext cx="32380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禁止預先為未來延展性堆疊過多架構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2252" y="4593232"/>
              <a:ext cx="30480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禁止局部修復時順手重構無關區塊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91300" y="5385911"/>
              <a:ext cx="380816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Calibri"/>
                  <a:ea typeface="Microsoft YaHei"/>
                  <a:cs typeface="Calibri"/>
                </a:rPr>
                <a:t>• 優先要求可驗證結果，例如先補測試再修正</a:t>
              </a:r>
            </a:p>
          </p:txBody>
        </p:sp>
      </p:grpSp>
      <p:pic>
        <p:nvPicPr>
          <p:cNvPr id="34" name="Image 7">
            <a:extLst>
              <a:ext uri="{FF2B5EF4-FFF2-40B4-BE49-F238E27FC236}">
                <a16:creationId xmlns:a16="http://schemas.microsoft.com/office/drawing/2014/main" id="{CBBA463D-86A8-8CE4-5DE5-1E0451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90600" y="626269"/>
            <a:ext cx="3494494" cy="2900362"/>
            <a:chOff x="990600" y="848678"/>
            <a:chExt cx="3494494" cy="290036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898229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1. Think Before Coding</a:t>
              </a:r>
              <a:endParaRPr lang="zh-CN" sz="2550" b="1" dirty="0">
                <a:solidFill>
                  <a:srgbClr val="111827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111827"/>
                </a:solidFill>
                <a:latin typeface="Calibri"/>
                <a:ea typeface="Microsoft YaHei"/>
                <a:cs typeface="Calibri"/>
              </a:endParaRPr>
            </a:p>
          </p:txBody>
        </p:sp>
      </p:grpSp>
      <p:pic>
        <p:nvPicPr>
          <p:cNvPr id="34" name="Image 7">
            <a:extLst>
              <a:ext uri="{FF2B5EF4-FFF2-40B4-BE49-F238E27FC236}">
                <a16:creationId xmlns:a16="http://schemas.microsoft.com/office/drawing/2014/main" id="{CBBA463D-86A8-8CE4-5DE5-1E0451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5FE60C4F-26F2-924C-EDE7-EF72668C8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499" y="1322631"/>
            <a:ext cx="9543901" cy="459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95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57462" y="509588"/>
            <a:ext cx="2833288" cy="2900362"/>
            <a:chOff x="990600" y="848678"/>
            <a:chExt cx="2833288" cy="290036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237023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2. Simplicity First </a:t>
              </a:r>
              <a:endParaRPr lang="zh-CN" sz="2550" b="1" dirty="0">
                <a:solidFill>
                  <a:srgbClr val="111827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111827"/>
                </a:solidFill>
                <a:latin typeface="Calibri"/>
                <a:ea typeface="Microsoft YaHei"/>
                <a:cs typeface="Calibri"/>
              </a:endParaRPr>
            </a:p>
          </p:txBody>
        </p:sp>
      </p:grpSp>
      <p:pic>
        <p:nvPicPr>
          <p:cNvPr id="34" name="Image 7">
            <a:extLst>
              <a:ext uri="{FF2B5EF4-FFF2-40B4-BE49-F238E27FC236}">
                <a16:creationId xmlns:a16="http://schemas.microsoft.com/office/drawing/2014/main" id="{CBBA463D-86A8-8CE4-5DE5-1E0451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E2CECDE-6815-D27A-812E-A71053AC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312" y="1161728"/>
            <a:ext cx="8217694" cy="518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3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90600" y="626269"/>
            <a:ext cx="3134652" cy="2900362"/>
            <a:chOff x="990600" y="848678"/>
            <a:chExt cx="3134652" cy="290036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2538387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3. Surgical Changes </a:t>
              </a:r>
              <a:endParaRPr lang="zh-CN" sz="2550" b="1" dirty="0">
                <a:solidFill>
                  <a:srgbClr val="111827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111827"/>
                </a:solidFill>
                <a:latin typeface="Calibri"/>
                <a:ea typeface="Microsoft YaHei"/>
                <a:cs typeface="Calibri"/>
              </a:endParaRPr>
            </a:p>
          </p:txBody>
        </p:sp>
      </p:grpSp>
      <p:pic>
        <p:nvPicPr>
          <p:cNvPr id="34" name="Image 7">
            <a:extLst>
              <a:ext uri="{FF2B5EF4-FFF2-40B4-BE49-F238E27FC236}">
                <a16:creationId xmlns:a16="http://schemas.microsoft.com/office/drawing/2014/main" id="{CBBA463D-86A8-8CE4-5DE5-1E0451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F093162-34B2-8586-1DD0-005AAC12C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1330073"/>
            <a:ext cx="10131785" cy="494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-1962150" y="-438150"/>
            <a:ext cx="14154150" cy="7296150"/>
            <a:chOff x="-1962150" y="-438150"/>
            <a:chExt cx="14154150" cy="72961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14400" cy="6858000"/>
            </a:xfrm>
            <a:prstGeom prst="rect">
              <a:avLst/>
            </a:prstGeom>
            <a:gradFill>
              <a:gsLst>
                <a:gs pos="0">
                  <a:srgbClr val="8DECC1"/>
                </a:gs>
                <a:gs pos="100000">
                  <a:srgbClr val="00AA64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-438150"/>
              <a:ext cx="2514600" cy="2514600"/>
            </a:xfrm>
            <a:prstGeom prst="ellipse">
              <a:avLst/>
            </a:prstGeom>
            <a:solidFill>
              <a:srgbClr val="C8F9D9">
                <a:alpha val="6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943100" y="266700"/>
              <a:ext cx="3238500" cy="3238500"/>
            </a:xfrm>
            <a:prstGeom prst="ellipse">
              <a:avLst/>
            </a:prstGeom>
            <a:solidFill>
              <a:srgbClr val="A7F3D0">
                <a:alpha val="4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-1962150" y="1600200"/>
              <a:ext cx="3505200" cy="3505200"/>
            </a:xfrm>
            <a:prstGeom prst="ellipse">
              <a:avLst/>
            </a:prstGeom>
            <a:solidFill>
              <a:srgbClr val="6EE7B7">
                <a:alpha val="24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90600" y="579120"/>
            <a:ext cx="3908903" cy="2900362"/>
            <a:chOff x="990600" y="848678"/>
            <a:chExt cx="3908903" cy="2900362"/>
          </a:xfrm>
        </p:grpSpPr>
        <p:sp>
          <p:nvSpPr>
            <p:cNvPr id="9" name="TextBox 9"/>
            <p:cNvSpPr txBox="1"/>
            <p:nvPr/>
          </p:nvSpPr>
          <p:spPr>
            <a:xfrm rot="5400000">
              <a:off x="697230" y="321183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PRINCIPLES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6865" y="848678"/>
              <a:ext cx="3312638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550" b="1" dirty="0">
                  <a:solidFill>
                    <a:srgbClr val="111827"/>
                  </a:solidFill>
                  <a:latin typeface="Calibri Light"/>
                  <a:ea typeface="Microsoft YaHei"/>
                  <a:cs typeface="Calibri Light"/>
                </a:rPr>
                <a:t>4. Goal-Driven Execution  </a:t>
              </a:r>
              <a:endParaRPr lang="zh-CN" sz="2550" b="1" dirty="0">
                <a:solidFill>
                  <a:srgbClr val="111827"/>
                </a:solidFill>
                <a:latin typeface="Calibri Light"/>
                <a:ea typeface="Microsoft YaHei"/>
                <a:cs typeface="Calibri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8800" y="1543050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111827"/>
                </a:solidFill>
                <a:latin typeface="Calibri"/>
                <a:ea typeface="Microsoft YaHei"/>
                <a:cs typeface="Calibri"/>
              </a:endParaRPr>
            </a:p>
          </p:txBody>
        </p:sp>
      </p:grpSp>
      <p:pic>
        <p:nvPicPr>
          <p:cNvPr id="34" name="Image 7">
            <a:extLst>
              <a:ext uri="{FF2B5EF4-FFF2-40B4-BE49-F238E27FC236}">
                <a16:creationId xmlns:a16="http://schemas.microsoft.com/office/drawing/2014/main" id="{CBBA463D-86A8-8CE4-5DE5-1E0451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9" y="6126480"/>
            <a:ext cx="499654" cy="61722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E49A7CC-E8A6-88A8-9E6F-A1FC60BB1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58239"/>
            <a:ext cx="10503040" cy="512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9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172A">
                <a:alpha val="22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76300" y="2133600"/>
            <a:ext cx="7810500" cy="2324100"/>
            <a:chOff x="876300" y="2133600"/>
            <a:chExt cx="7810500" cy="2324100"/>
          </a:xfrm>
        </p:grpSpPr>
        <p:sp>
          <p:nvSpPr>
            <p:cNvPr id="5" name="Rectangle 5"/>
            <p:cNvSpPr/>
            <p:nvPr/>
          </p:nvSpPr>
          <p:spPr>
            <a:xfrm>
              <a:off x="876300" y="2133600"/>
              <a:ext cx="7810500" cy="2324100"/>
            </a:xfrm>
            <a:prstGeom prst="roundRect">
              <a:avLst>
                <a:gd name="adj" fmla="val 9836"/>
              </a:avLst>
            </a:prstGeom>
            <a:solidFill>
              <a:srgbClr val="0F172A">
                <a:alpha val="38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24915" y="2601278"/>
              <a:ext cx="48670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真正可規模化的 AI 開發能力，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24915" y="305847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來自明確規則、可驗證結果，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4915" y="35156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Calibri Light"/>
                  <a:ea typeface="Microsoft YaHei"/>
                  <a:cs typeface="Calibri Light"/>
                </a:rPr>
                <a:t>以及對修改邊界的共同紀律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9202" y="3922871"/>
              <a:ext cx="531885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Clear rules. Verifiable outcomes. Disciplined boundaries.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1761</Words>
  <Application>Microsoft Office PowerPoint</Application>
  <PresentationFormat>寬螢幕</PresentationFormat>
  <Paragraphs>109</Paragraphs>
  <Slides>11</Slides>
  <Notes>11</Notes>
  <HiddenSlides>4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Jacky L</cp:lastModifiedBy>
  <cp:revision>4</cp:revision>
  <dcterms:created xsi:type="dcterms:W3CDTF">2013-01-27T09:14:16Z</dcterms:created>
  <dcterms:modified xsi:type="dcterms:W3CDTF">2026-06-01T09:07:52Z</dcterms:modified>
  <cp:category/>
</cp:coreProperties>
</file>