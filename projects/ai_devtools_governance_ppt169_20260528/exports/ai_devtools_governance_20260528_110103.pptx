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a0c9c1dd5be909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62050"/>
            <a:ext cx="1714500" cy="323850"/>
            <a:chOff x="1619250" y="1162050"/>
            <a:chExt cx="1714500" cy="323850"/>
          </a:xfrm>
        </p:grpSpPr>
        <p:sp>
          <p:nvSpPr>
            <p:cNvPr id="9" name="Rectangle 9"/>
            <p:cNvSpPr/>
            <p:nvPr/>
          </p:nvSpPr>
          <p:spPr>
            <a:xfrm>
              <a:off x="1619250" y="1162050"/>
              <a:ext cx="1714500" cy="32385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52612" y="1250156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2100" y="1876425"/>
            <a:ext cx="4152900" cy="1562100"/>
            <a:chOff x="1562100" y="1876425"/>
            <a:chExt cx="4152900" cy="1562100"/>
          </a:xfrm>
        </p:grpSpPr>
        <p:sp>
          <p:nvSpPr>
            <p:cNvPr id="12" name="TextBox 12"/>
            <p:cNvSpPr txBox="1"/>
            <p:nvPr/>
          </p:nvSpPr>
          <p:spPr>
            <a:xfrm>
              <a:off x="1562100" y="1876425"/>
              <a:ext cx="335920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2100" y="25241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24225"/>
              <a:ext cx="40957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A64"/>
                </a:gs>
                <a:gs pos="100000">
                  <a:srgbClr val="2BCB8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68090"/>
            <a:ext cx="4746107" cy="684848"/>
            <a:chOff x="1596390" y="3768090"/>
            <a:chExt cx="474610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68090"/>
              <a:ext cx="47461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從 GitHub 萬星提示詞專案看協作邊界設計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78618"/>
              <a:ext cx="4183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An operational view inspired by Andrej Karpathy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4762500"/>
            <a:ext cx="5391150" cy="876300"/>
            <a:chOff x="1619250" y="4762500"/>
            <a:chExt cx="5391150" cy="876300"/>
          </a:xfrm>
        </p:grpSpPr>
        <p:sp>
          <p:nvSpPr>
            <p:cNvPr id="19" name="Rectangle 19"/>
            <p:cNvSpPr/>
            <p:nvPr/>
          </p:nvSpPr>
          <p:spPr>
            <a:xfrm>
              <a:off x="1619250" y="4762500"/>
              <a:ext cx="539115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6905" y="4978718"/>
              <a:ext cx="29416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主題：AI 協作治理與提示詞邊界設計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6905" y="52454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重點：把規則、停損點與驗收方式前置到開發流程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99248" y="6096000"/>
            <a:ext cx="8916352" cy="409575"/>
            <a:chOff x="1599248" y="6096000"/>
            <a:chExt cx="8916352" cy="409575"/>
          </a:xfrm>
        </p:grpSpPr>
        <p:sp>
          <p:nvSpPr>
            <p:cNvPr id="23" name="TextBox 23"/>
            <p:cNvSpPr txBox="1"/>
            <p:nvPr/>
          </p:nvSpPr>
          <p:spPr>
            <a:xfrm>
              <a:off x="1599248" y="6173629"/>
              <a:ext cx="22767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2026年 AI 協作治理簡報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>
                <a:alpha val="22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125855" y="1340168"/>
            <a:ext cx="1357455" cy="326707"/>
            <a:chOff x="1125855" y="1340168"/>
            <a:chExt cx="1357455" cy="326707"/>
          </a:xfrm>
        </p:grpSpPr>
        <p:sp>
          <p:nvSpPr>
            <p:cNvPr id="5" name="TextBox 5"/>
            <p:cNvSpPr txBox="1"/>
            <p:nvPr/>
          </p:nvSpPr>
          <p:spPr>
            <a:xfrm>
              <a:off x="1125855" y="13401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WHY IT MATTERS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1619250"/>
              <a:ext cx="1123950" cy="47625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04900" y="2057400"/>
            <a:ext cx="4885801" cy="1638300"/>
            <a:chOff x="1104900" y="2057400"/>
            <a:chExt cx="4885801" cy="1638300"/>
          </a:xfrm>
        </p:grpSpPr>
        <p:sp>
          <p:nvSpPr>
            <p:cNvPr id="8" name="TextBox 8"/>
            <p:cNvSpPr txBox="1"/>
            <p:nvPr/>
          </p:nvSpPr>
          <p:spPr>
            <a:xfrm>
              <a:off x="1104900" y="2057400"/>
              <a:ext cx="488580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當 AI 開始參與程式開發，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4900" y="25717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真正決定效率與品質的，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4900" y="308610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是協作規則是否足夠精確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3000" y="4591050"/>
            <a:ext cx="6471976" cy="723900"/>
            <a:chOff x="1143000" y="4591050"/>
            <a:chExt cx="6471976" cy="723900"/>
          </a:xfrm>
        </p:grpSpPr>
        <p:sp>
          <p:nvSpPr>
            <p:cNvPr id="12" name="Rectangle 12"/>
            <p:cNvSpPr/>
            <p:nvPr/>
          </p:nvSpPr>
          <p:spPr>
            <a:xfrm>
              <a:off x="1143000" y="4591050"/>
              <a:ext cx="6438900" cy="723900"/>
            </a:xfrm>
            <a:prstGeom prst="roundRect">
              <a:avLst>
                <a:gd name="adj" fmla="val 18421"/>
              </a:avLst>
            </a:prstGeom>
            <a:solidFill>
              <a:srgbClr val="00AA64">
                <a:alpha val="8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9698" y="4830604"/>
              <a:ext cx="62252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治理的核心不是多加一個工具，而是讓 AI 在明確邊界內穩定協作。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897255" y="848678"/>
            <a:ext cx="9637395" cy="2406967"/>
            <a:chOff x="897255" y="848678"/>
            <a:chExt cx="9637395" cy="2406967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897255" y="3011805"/>
              <a:ext cx="430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RISKS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178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Karpathy 指出的三大風險，會直接拉高開發與審查成本。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171700"/>
            <a:ext cx="2724150" cy="2609850"/>
            <a:chOff x="1619250" y="2171700"/>
            <a:chExt cx="2724150" cy="26098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0975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45005" y="257841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738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假設先驗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4085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需求仍有歧義時，不先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36752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澄清就直接執行，導致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39419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方向一開始就偏掉。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33925" y="2171700"/>
            <a:ext cx="2724150" cy="2609850"/>
            <a:chOff x="4733925" y="2171700"/>
            <a:chExt cx="2724150" cy="2609850"/>
          </a:xfrm>
        </p:grpSpPr>
        <p:sp>
          <p:nvSpPr>
            <p:cNvPr id="23" name="Rectangle 23"/>
            <p:cNvSpPr/>
            <p:nvPr/>
          </p:nvSpPr>
          <p:spPr>
            <a:xfrm>
              <a:off x="4733925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33925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24425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2BCB8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9680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2055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過度設計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0628" y="34085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替簡單任務堆疊過多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0628" y="36752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架構、抽象與介面，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0628" y="39419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把維護成本先做大。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48600" y="2171700"/>
            <a:ext cx="2724150" cy="2609850"/>
            <a:chOff x="7848600" y="2171700"/>
            <a:chExt cx="2724150" cy="2609850"/>
          </a:xfrm>
        </p:grpSpPr>
        <p:sp>
          <p:nvSpPr>
            <p:cNvPr id="32" name="Rectangle 32"/>
            <p:cNvSpPr/>
            <p:nvPr/>
          </p:nvSpPr>
          <p:spPr>
            <a:xfrm>
              <a:off x="784860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4860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3910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4355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673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附帶修改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5302" y="34085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修一處卻連帶改動無關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5302" y="367522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模組、縮排與註解風格，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5302" y="3941921"/>
              <a:ext cx="209795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讓 review 被噪音淹沒。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5124450"/>
            <a:ext cx="8953500" cy="876300"/>
            <a:chOff x="1619250" y="5124450"/>
            <a:chExt cx="8953500" cy="876300"/>
          </a:xfrm>
        </p:grpSpPr>
        <p:sp>
          <p:nvSpPr>
            <p:cNvPr id="41" name="Rectangle 41"/>
            <p:cNvSpPr/>
            <p:nvPr/>
          </p:nvSpPr>
          <p:spPr>
            <a:xfrm>
              <a:off x="1619250" y="5124450"/>
              <a:ext cx="89535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35480" y="5393055"/>
              <a:ext cx="6522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三者共同結果是方向偏差、維護膨脹、審查變慢。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0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05256" y="848678"/>
            <a:ext cx="9629394" cy="2398966"/>
            <a:chOff x="905256" y="848678"/>
            <a:chExt cx="9629394" cy="239896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05256" y="3003804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0288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這不是單點 bug，而是流程治理成本在團隊與管理層兩端同步浮現。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19250" y="2171700"/>
            <a:ext cx="4267200" cy="3429000"/>
            <a:chOff x="1619250" y="2171700"/>
            <a:chExt cx="4267200" cy="3429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對團隊的直接影響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000" y="3000375"/>
              <a:ext cx="3098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工程師要花時間修正 AI 的錯方向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000" y="340042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程式碼體積變大，閱讀與維護成本上升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0" y="380047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Review 討論被無關變更稀釋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000" y="4200525"/>
              <a:ext cx="2808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專案節奏容易被反覆來回拖慢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05550" y="2171700"/>
            <a:ext cx="4267200" cy="3429000"/>
            <a:chOff x="6305550" y="2171700"/>
            <a:chExt cx="42672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63055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2294572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對決策層的訊號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1300" y="3000375"/>
              <a:ext cx="33985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這不是單點 bug，而是流程治理問題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91300" y="3400425"/>
              <a:ext cx="3008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缺乏約束會放大模型的不穩定性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3800475"/>
              <a:ext cx="34085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工具越普及，治理成本越需要前置化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1300" y="4200525"/>
              <a:ext cx="34085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管理焦點應從工具導入轉向使用規範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33235" y="848678"/>
            <a:ext cx="3417712" cy="2570988"/>
            <a:chOff x="733235" y="848678"/>
            <a:chExt cx="3417712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SOLUTION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社群給出的解法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9250" y="1409700"/>
            <a:ext cx="8858250" cy="907256"/>
            <a:chOff x="1619250" y="1409700"/>
            <a:chExt cx="8858250" cy="907256"/>
          </a:xfrm>
        </p:grpSpPr>
        <p:sp>
          <p:nvSpPr>
            <p:cNvPr id="12" name="Rectangle 12"/>
            <p:cNvSpPr/>
            <p:nvPr/>
          </p:nvSpPr>
          <p:spPr>
            <a:xfrm>
              <a:off x="1619250" y="1409700"/>
              <a:ext cx="8858250" cy="838200"/>
            </a:xfrm>
            <a:prstGeom prst="roundRect">
              <a:avLst>
                <a:gd name="adj" fmla="val 2045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36432" y="1591151"/>
              <a:ext cx="487153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用一組低成本、可複製的提示詞約束，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6432" y="1905476"/>
              <a:ext cx="556619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把 AI 從被動執行者變成可治理的協作模組。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628900"/>
            <a:ext cx="8858250" cy="800100"/>
            <a:chOff x="1619250" y="2628900"/>
            <a:chExt cx="8858250" cy="800100"/>
          </a:xfrm>
        </p:grpSpPr>
        <p:sp>
          <p:nvSpPr>
            <p:cNvPr id="16" name="Rectangle 16"/>
            <p:cNvSpPr/>
            <p:nvPr/>
          </p:nvSpPr>
          <p:spPr>
            <a:xfrm>
              <a:off x="1619250" y="26289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26289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80248" y="2935129"/>
              <a:ext cx="57107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核心做法是把邊界、停損點與驗收方式直接寫進系統提示詞。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3638550"/>
            <a:ext cx="8858250" cy="800100"/>
            <a:chOff x="1619250" y="3638550"/>
            <a:chExt cx="8858250" cy="800100"/>
          </a:xfrm>
        </p:grpSpPr>
        <p:sp>
          <p:nvSpPr>
            <p:cNvPr id="20" name="Rectangle 20"/>
            <p:cNvSpPr/>
            <p:nvPr/>
          </p:nvSpPr>
          <p:spPr>
            <a:xfrm>
              <a:off x="1619250" y="363855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9250" y="363855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80248" y="3944779"/>
              <a:ext cx="584723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這類專案在 GitHub 快速累積高關注度，反映需求具有普遍性。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4648200"/>
            <a:ext cx="8858250" cy="800100"/>
            <a:chOff x="1619250" y="4648200"/>
            <a:chExt cx="8858250" cy="800100"/>
          </a:xfrm>
        </p:grpSpPr>
        <p:sp>
          <p:nvSpPr>
            <p:cNvPr id="24" name="Rectangle 24"/>
            <p:cNvSpPr/>
            <p:nvPr/>
          </p:nvSpPr>
          <p:spPr>
            <a:xfrm>
              <a:off x="1619250" y="46482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46482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80248" y="4954429"/>
              <a:ext cx="613076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優勢在於導入門檻低，不必改模型，也不必先建構複雜基礎設施。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697230" y="848678"/>
            <a:ext cx="9837420" cy="2606992"/>
            <a:chOff x="697230" y="848678"/>
            <a:chExt cx="9837420" cy="260699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468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把設計原則翻譯成管理要求，AI 協作才會從建議升級成制度。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2171700"/>
            <a:ext cx="4267200" cy="3793331"/>
            <a:chOff x="1619250" y="2171700"/>
            <a:chExt cx="4267200" cy="3793331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設計原則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952" y="2989421"/>
              <a:ext cx="21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 Think Before Coding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952" y="3275171"/>
              <a:ext cx="23164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需求未清楚前先停下來確認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789521"/>
              <a:ext cx="229082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 No Over-engineering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40752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只做當下真正需要的解法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4589621"/>
              <a:ext cx="25701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 Targeted Modifications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952" y="48753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只改與任務直接相關的程式碼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5952" y="5389721"/>
              <a:ext cx="28195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04 Outcome-based Execution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5952" y="56754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以驗收標準驅動修正流程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05550" y="2171700"/>
            <a:ext cx="4267200" cy="3771900"/>
            <a:chOff x="6305550" y="2171700"/>
            <a:chExt cx="4267200" cy="3771900"/>
          </a:xfrm>
        </p:grpSpPr>
        <p:sp>
          <p:nvSpPr>
            <p:cNvPr id="26" name="Rectangle 26"/>
            <p:cNvSpPr/>
            <p:nvPr/>
          </p:nvSpPr>
          <p:spPr>
            <a:xfrm>
              <a:off x="63055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74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可落地的管理要求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2252" y="2989421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模糊需求必須先澄清，不允許自動假設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2252" y="3503771"/>
              <a:ext cx="32380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禁止預先為未來延展性堆疊過多架構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2252" y="4018121"/>
              <a:ext cx="30480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禁止局部修復時順手重構無關區塊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2252" y="4532471"/>
              <a:ext cx="380816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優先要求可驗證結果，例如先補測試再修正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7286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把 AI 協作從偶爾有效，變成可持續複製的工程能力。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2038350"/>
            <a:chOff x="1619250" y="2247900"/>
            <a:chExt cx="8953500" cy="20383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203835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58428"/>
              <a:ext cx="48670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真正可規模化的 AI 開發能力，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115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來自明確規則、可驗證結果，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728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以及對修改邊界的共同紀律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629150"/>
            <a:ext cx="4267200" cy="1138238"/>
            <a:chOff x="1619250" y="4629150"/>
            <a:chExt cx="4267200" cy="1138238"/>
          </a:xfrm>
        </p:grpSpPr>
        <p:sp>
          <p:nvSpPr>
            <p:cNvPr id="20" name="Rectangle 20"/>
            <p:cNvSpPr/>
            <p:nvPr/>
          </p:nvSpPr>
          <p:spPr>
            <a:xfrm>
              <a:off x="16192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6905" y="48834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規則清楚，AI 才能穩定協作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6905" y="5188268"/>
              <a:ext cx="2707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結果可驗證，團隊才敢擴大使用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6905" y="5493068"/>
              <a:ext cx="3166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邊界明確，review 才不會被噪音稀釋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05550" y="4629150"/>
            <a:ext cx="4267200" cy="1066800"/>
            <a:chOff x="6305550" y="4629150"/>
            <a:chExt cx="4267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63055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4924425"/>
              <a:ext cx="34720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Clear rules. Verifiable outcomes.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5248275"/>
              <a:ext cx="23798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Disciplined boundaries.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