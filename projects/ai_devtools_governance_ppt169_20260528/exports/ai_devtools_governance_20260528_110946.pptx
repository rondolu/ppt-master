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今天這份簡報的核心觀點很直接，AI 參與程式開發之後，真正決定效率與品質的，不只是模型能力，而是協作邊界設計得夠不夠精確。這裡我們不是從理論出發，而是從 GitHub 上高關注的提示詞治理實踐切入，觀察哪些規則能把 AI 從不穩定的執行者，變成可管理的協作模組。</a:t>
            </a:r>
          </a:p>
          <a:p>
            <a:endParaRPr lang="zh-CN" dirty="0"/>
          </a:p>
          <a:p>
            <a:r>
              <a:rPr lang="zh-CN" dirty="0"/>
              <a:t>接下來七頁，我會先說明為什麼這件事值得關注，再拆解常見失效點，最後收斂到一組可執行的治理原則。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最重要的一句話是，當 AI 開始參與程式開發，真正決定效率與品質的，是協作規則是否足夠精確。換句話說，影響產出穩定性的關鍵，不在於模型會不會寫程式，而在於團隊有沒有事先定義清楚什麼時候要停下來確認、什麼不能順手改、以及什麼叫做完成。</a:t>
            </a:r>
          </a:p>
          <a:p>
            <a:endParaRPr lang="zh-CN" dirty="0"/>
          </a:p>
          <a:p>
            <a:r>
              <a:rPr lang="zh-CN" dirty="0"/>
              <a:t>如果沒有這些規則，AI 看起來像在加速，實際上是在把錯誤成本延後到 review 與維護階段才爆出來。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實務觀察來看，最常見的失效點可以濃縮成三類，而且它們通常不是分開出現。第一類是需求還不清楚時就直接選路徑執行，方向一開始就偏掉。第二類是為了簡單任務提前堆疊過多架構，讓系統還沒變複雜，維護成本先變複雜。第三類是局部修復時連帶改動無關區塊，讓 review 的焦點被噪音沖散。</a:t>
            </a:r>
          </a:p>
          <a:p>
            <a:endParaRPr lang="zh-CN" dirty="0"/>
          </a:p>
          <a:p>
            <a:r>
              <a:rPr lang="zh-CN" dirty="0"/>
              <a:t>三者合在一起，最後會把團隊拖向方向偏差、維護膨脹與審查變慢。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這件事的成本其實同時落在工程端與管理端。對工程團隊來說，最直接的感受是要花時間把 AI 拉回正確方向，程式碼量變大，review 時也更難抓到真正重要的差異。對決策層來說，這代表問題不是單一 bug，而是使用 AI 的流程治理還沒有建立起來。</a:t>
            </a:r>
          </a:p>
          <a:p>
            <a:endParaRPr lang="zh-CN" dirty="0"/>
          </a:p>
          <a:p>
            <a:r>
              <a:rPr lang="zh-CN" dirty="0"/>
              <a:t>也就是說，工具越普及，治理成本就越不能放到最後才補，而是要前置到協作規則的設計裡。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目前給出的解法並不昂貴，但很有效，就是把邊界、停損點與驗收方式直接寫進系統提示詞與工作流程裡。這類做法之所以快速累積關注，是因為它不要求團隊先改模型，也不要求先建構新的大型基礎設施，而是先用規則把 AI 的輸出穩定下來。</a:t>
            </a:r>
          </a:p>
          <a:p>
            <a:endParaRPr lang="zh-CN" dirty="0"/>
          </a:p>
          <a:p>
            <a:r>
              <a:rPr lang="zh-CN" dirty="0"/>
              <a:t>從治理角度看，這一步很重要，因為它把 AI 從一個不可預測的助手，轉成一個行為邊界清楚的協作角色。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最後想留下的結論是，真正可規模化的 AI 開發能力，不是建立在更強的自動化幻覺上，而是建立在更明確的規則、更可驗證的結果，以及對修改邊界的共同紀律上。當團隊把這三件事講清楚，AI 才會從偶爾有效，變成可以持續複製的生產力系統。</a:t>
            </a:r>
          </a:p>
          <a:p>
            <a:endParaRPr lang="zh-CN" dirty="0"/>
          </a:p>
          <a:p>
            <a:r>
              <a:rPr lang="zh-CN" dirty="0"/>
              <a:t>這也是 AI 輔助開發治理真正要處理的問題。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2038350" y="-495300"/>
            <a:ext cx="14230350" cy="7353300"/>
            <a:chOff x="-2038350" y="-495300"/>
            <a:chExt cx="142303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0668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-495300"/>
              <a:ext cx="2705100" cy="27051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361950"/>
              <a:ext cx="3352800" cy="33528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2038350" y="1733550"/>
              <a:ext cx="3733800" cy="37338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619250" y="1162050"/>
            <a:ext cx="1714500" cy="323850"/>
            <a:chOff x="1619250" y="1162050"/>
            <a:chExt cx="1714500" cy="323850"/>
          </a:xfrm>
        </p:grpSpPr>
        <p:sp>
          <p:nvSpPr>
            <p:cNvPr id="9" name="Rectangle 9"/>
            <p:cNvSpPr/>
            <p:nvPr/>
          </p:nvSpPr>
          <p:spPr>
            <a:xfrm>
              <a:off x="1619250" y="1162050"/>
              <a:ext cx="1714500" cy="323850"/>
            </a:xfrm>
            <a:prstGeom prst="roundRect">
              <a:avLst>
                <a:gd name="adj" fmla="val 50000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52612" y="1250156"/>
              <a:ext cx="110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AI GOVERNANCE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2100" y="1876425"/>
            <a:ext cx="4152900" cy="1562100"/>
            <a:chOff x="1562100" y="1876425"/>
            <a:chExt cx="4152900" cy="1562100"/>
          </a:xfrm>
        </p:grpSpPr>
        <p:sp>
          <p:nvSpPr>
            <p:cNvPr id="12" name="TextBox 12"/>
            <p:cNvSpPr txBox="1"/>
            <p:nvPr/>
          </p:nvSpPr>
          <p:spPr>
            <a:xfrm>
              <a:off x="1562100" y="1876425"/>
              <a:ext cx="335920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AI 輔助開發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2100" y="25241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治理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324225"/>
              <a:ext cx="40957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AA64"/>
                </a:gs>
                <a:gs pos="100000">
                  <a:srgbClr val="2BCB8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96390" y="3768090"/>
            <a:ext cx="4746107" cy="684848"/>
            <a:chOff x="1596390" y="3768090"/>
            <a:chExt cx="4746107" cy="684848"/>
          </a:xfrm>
        </p:grpSpPr>
        <p:sp>
          <p:nvSpPr>
            <p:cNvPr id="16" name="TextBox 16"/>
            <p:cNvSpPr txBox="1"/>
            <p:nvPr/>
          </p:nvSpPr>
          <p:spPr>
            <a:xfrm>
              <a:off x="1596390" y="3768090"/>
              <a:ext cx="47461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從 GitHub 萬星提示詞專案看協作邊界設計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2105" y="4178618"/>
              <a:ext cx="4183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An operational view inspired by Andrej Karpathy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4762500"/>
            <a:ext cx="5391150" cy="876300"/>
            <a:chOff x="1619250" y="4762500"/>
            <a:chExt cx="5391150" cy="876300"/>
          </a:xfrm>
        </p:grpSpPr>
        <p:sp>
          <p:nvSpPr>
            <p:cNvPr id="19" name="Rectangle 19"/>
            <p:cNvSpPr/>
            <p:nvPr/>
          </p:nvSpPr>
          <p:spPr>
            <a:xfrm>
              <a:off x="1619250" y="4762500"/>
              <a:ext cx="5391150" cy="876300"/>
            </a:xfrm>
            <a:prstGeom prst="roundRect">
              <a:avLst>
                <a:gd name="adj" fmla="val 19565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06905" y="4978718"/>
              <a:ext cx="29416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主題：AI 協作治理與提示詞邊界設計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6905" y="524541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重點：把規則、停損點與驗收方式前置到開發流程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99248" y="6096000"/>
            <a:ext cx="8916352" cy="409575"/>
            <a:chOff x="1599248" y="6096000"/>
            <a:chExt cx="8916352" cy="409575"/>
          </a:xfrm>
        </p:grpSpPr>
        <p:sp>
          <p:nvSpPr>
            <p:cNvPr id="23" name="TextBox 23"/>
            <p:cNvSpPr txBox="1"/>
            <p:nvPr/>
          </p:nvSpPr>
          <p:spPr>
            <a:xfrm>
              <a:off x="1599248" y="6173629"/>
              <a:ext cx="22767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2026年 AI 協作治理簡報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960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49262" y="848678"/>
            <a:ext cx="9585388" cy="2354960"/>
            <a:chOff x="949262" y="848678"/>
            <a:chExt cx="9585388" cy="235496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949262" y="2959798"/>
              <a:ext cx="3265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WHY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為什麼值得關注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5287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真正要治理的不是模型本身，而是 AI 與團隊之間的協作規則。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28850"/>
            <a:ext cx="8953500" cy="2286000"/>
            <a:chOff x="1619250" y="2228850"/>
            <a:chExt cx="89535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28850"/>
              <a:ext cx="8953500" cy="2286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28850"/>
              <a:ext cx="8953500" cy="1143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5005" y="2626042"/>
              <a:ext cx="46415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當 AI 開始參與程式開發，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5005" y="3121342"/>
              <a:ext cx="44619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真正決定效率與品質的，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5005" y="3616642"/>
              <a:ext cx="44619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是協作規則是否足夠精確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4838700"/>
            <a:ext cx="5638800" cy="876300"/>
            <a:chOff x="1619250" y="4838700"/>
            <a:chExt cx="5638800" cy="876300"/>
          </a:xfrm>
        </p:grpSpPr>
        <p:sp>
          <p:nvSpPr>
            <p:cNvPr id="20" name="Rectangle 20"/>
            <p:cNvSpPr/>
            <p:nvPr/>
          </p:nvSpPr>
          <p:spPr>
            <a:xfrm>
              <a:off x="1619250" y="4838700"/>
              <a:ext cx="5638800" cy="876300"/>
            </a:xfrm>
            <a:prstGeom prst="roundRect">
              <a:avLst>
                <a:gd name="adj" fmla="val 1956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05000" y="5038725"/>
              <a:ext cx="2838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治理的核心不是多加一個工具，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000" y="5324475"/>
              <a:ext cx="31284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而是讓 AI 在明確邊界內穩定協作。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24750" y="4838700"/>
            <a:ext cx="3048000" cy="978694"/>
            <a:chOff x="7524750" y="4838700"/>
            <a:chExt cx="3048000" cy="978694"/>
          </a:xfrm>
        </p:grpSpPr>
        <p:sp>
          <p:nvSpPr>
            <p:cNvPr id="24" name="Rectangle 24"/>
            <p:cNvSpPr/>
            <p:nvPr/>
          </p:nvSpPr>
          <p:spPr>
            <a:xfrm>
              <a:off x="7524750" y="4838700"/>
              <a:ext cx="3048000" cy="876300"/>
            </a:xfrm>
            <a:prstGeom prst="roundRect">
              <a:avLst>
                <a:gd name="adj" fmla="val 19565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13358" y="506301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治理焦點：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3358" y="531066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假設、修改邊界、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13358" y="555831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驗證與停損機制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897255" y="848678"/>
            <a:ext cx="9637395" cy="2406967"/>
            <a:chOff x="897255" y="848678"/>
            <a:chExt cx="9637395" cy="2406967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897255" y="3011805"/>
              <a:ext cx="4305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RISKS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目前最常見的三個失效點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178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Karpathy 指出的三大風險，會直接拉高開發與審查成本。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2171700"/>
            <a:ext cx="2724150" cy="2609850"/>
            <a:chOff x="1619250" y="2171700"/>
            <a:chExt cx="2724150" cy="26098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80975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45005" y="2578418"/>
              <a:ext cx="194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7380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假設先驗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40852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需求仍有歧義時，不先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367522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澄清就直接執行，導致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39419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方向一開始就偏掉。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33925" y="2171700"/>
            <a:ext cx="2724150" cy="2609850"/>
            <a:chOff x="4733925" y="2171700"/>
            <a:chExt cx="2724150" cy="2609850"/>
          </a:xfrm>
        </p:grpSpPr>
        <p:sp>
          <p:nvSpPr>
            <p:cNvPr id="23" name="Rectangle 23"/>
            <p:cNvSpPr/>
            <p:nvPr/>
          </p:nvSpPr>
          <p:spPr>
            <a:xfrm>
              <a:off x="4733925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33925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924425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2BCB8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9680" y="25784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12055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過度設計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0628" y="34085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替簡單任務堆疊過多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0628" y="36752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架構、抽象與介面，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20628" y="39419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把維護成本先做大。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48600" y="2171700"/>
            <a:ext cx="2724150" cy="2609850"/>
            <a:chOff x="7848600" y="2171700"/>
            <a:chExt cx="2724150" cy="2609850"/>
          </a:xfrm>
        </p:grpSpPr>
        <p:sp>
          <p:nvSpPr>
            <p:cNvPr id="32" name="Rectangle 32"/>
            <p:cNvSpPr/>
            <p:nvPr/>
          </p:nvSpPr>
          <p:spPr>
            <a:xfrm>
              <a:off x="7848600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4860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3910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74355" y="25784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6730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附帶修改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5302" y="340852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修一處卻連帶改動無關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5302" y="367522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模組、縮排與註解風格，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35302" y="3941921"/>
              <a:ext cx="209795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讓 review 被噪音淹沒。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19250" y="5124450"/>
            <a:ext cx="8953500" cy="876300"/>
            <a:chOff x="1619250" y="5124450"/>
            <a:chExt cx="8953500" cy="876300"/>
          </a:xfrm>
        </p:grpSpPr>
        <p:sp>
          <p:nvSpPr>
            <p:cNvPr id="41" name="Rectangle 41"/>
            <p:cNvSpPr/>
            <p:nvPr/>
          </p:nvSpPr>
          <p:spPr>
            <a:xfrm>
              <a:off x="1619250" y="5124450"/>
              <a:ext cx="8953500" cy="876300"/>
            </a:xfrm>
            <a:prstGeom prst="roundRect">
              <a:avLst>
                <a:gd name="adj" fmla="val 1956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35480" y="5393055"/>
              <a:ext cx="6522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三者共同結果是方向偏差、維護膨脹、審查變慢。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40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05256" y="848678"/>
            <a:ext cx="9629394" cy="2398966"/>
            <a:chOff x="905256" y="848678"/>
            <a:chExt cx="9629394" cy="239896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905256" y="3003804"/>
              <a:ext cx="4145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問題的管理成本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0288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這不是單點 bug，而是流程治理成本在團隊與管理層兩端同步浮現。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19250" y="2171700"/>
            <a:ext cx="4267200" cy="3429000"/>
            <a:chOff x="1619250" y="2171700"/>
            <a:chExt cx="4267200" cy="34290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118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對團隊的直接影響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5000" y="3000375"/>
              <a:ext cx="30984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工程師要花時間修正 AI 的錯方向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5000" y="3400425"/>
              <a:ext cx="36085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程式碼體積變大，閱讀與維護成本上升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000" y="3800475"/>
              <a:ext cx="27184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Review 討論被無關變更稀釋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000" y="4200525"/>
              <a:ext cx="28084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專案節奏容易被反覆來回拖慢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05550" y="2171700"/>
            <a:ext cx="4267200" cy="3429000"/>
            <a:chOff x="6305550" y="2171700"/>
            <a:chExt cx="4267200" cy="3429000"/>
          </a:xfrm>
        </p:grpSpPr>
        <p:sp>
          <p:nvSpPr>
            <p:cNvPr id="22" name="Rectangle 22"/>
            <p:cNvSpPr/>
            <p:nvPr/>
          </p:nvSpPr>
          <p:spPr>
            <a:xfrm>
              <a:off x="63055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7485" y="2294572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對決策層的訊號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1300" y="3000375"/>
              <a:ext cx="33985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這不是單點 bug，而是流程治理問題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91300" y="3400425"/>
              <a:ext cx="30084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缺乏約束會放大模型的不穩定性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1300" y="3800475"/>
              <a:ext cx="34085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工具越普及，治理成本越需要前置化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91300" y="4200525"/>
              <a:ext cx="34085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管理焦點應從工具導入轉向使用規範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733235" y="848678"/>
            <a:ext cx="3417712" cy="2570988"/>
            <a:chOff x="733235" y="848678"/>
            <a:chExt cx="3417712" cy="257098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33235" y="3175826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SOLUTION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社群給出的解法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9250" y="1409700"/>
            <a:ext cx="8858250" cy="907256"/>
            <a:chOff x="1619250" y="1409700"/>
            <a:chExt cx="8858250" cy="907256"/>
          </a:xfrm>
        </p:grpSpPr>
        <p:sp>
          <p:nvSpPr>
            <p:cNvPr id="12" name="Rectangle 12"/>
            <p:cNvSpPr/>
            <p:nvPr/>
          </p:nvSpPr>
          <p:spPr>
            <a:xfrm>
              <a:off x="1619250" y="1409700"/>
              <a:ext cx="8858250" cy="838200"/>
            </a:xfrm>
            <a:prstGeom prst="roundRect">
              <a:avLst>
                <a:gd name="adj" fmla="val 2045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36432" y="1591151"/>
              <a:ext cx="487153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用一組低成本、可複製的提示詞約束，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6432" y="1905476"/>
              <a:ext cx="556619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把 AI 從被動執行者變成可治理的協作模組。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628900"/>
            <a:ext cx="8858250" cy="800100"/>
            <a:chOff x="1619250" y="2628900"/>
            <a:chExt cx="8858250" cy="800100"/>
          </a:xfrm>
        </p:grpSpPr>
        <p:sp>
          <p:nvSpPr>
            <p:cNvPr id="16" name="Rectangle 16"/>
            <p:cNvSpPr/>
            <p:nvPr/>
          </p:nvSpPr>
          <p:spPr>
            <a:xfrm>
              <a:off x="1619250" y="26289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19250" y="26289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80248" y="2935129"/>
              <a:ext cx="57107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核心做法是把邊界、停損點與驗收方式直接寫進系統提示詞。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3638550"/>
            <a:ext cx="8858250" cy="800100"/>
            <a:chOff x="1619250" y="3638550"/>
            <a:chExt cx="8858250" cy="800100"/>
          </a:xfrm>
        </p:grpSpPr>
        <p:sp>
          <p:nvSpPr>
            <p:cNvPr id="20" name="Rectangle 20"/>
            <p:cNvSpPr/>
            <p:nvPr/>
          </p:nvSpPr>
          <p:spPr>
            <a:xfrm>
              <a:off x="1619250" y="363855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19250" y="363855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80248" y="3944779"/>
              <a:ext cx="584723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這類專案在 GitHub 快速累積高關注度，反映需求具有普遍性。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4648200"/>
            <a:ext cx="8858250" cy="800100"/>
            <a:chOff x="1619250" y="4648200"/>
            <a:chExt cx="8858250" cy="800100"/>
          </a:xfrm>
        </p:grpSpPr>
        <p:sp>
          <p:nvSpPr>
            <p:cNvPr id="24" name="Rectangle 24"/>
            <p:cNvSpPr/>
            <p:nvPr/>
          </p:nvSpPr>
          <p:spPr>
            <a:xfrm>
              <a:off x="1619250" y="46482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46482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80248" y="4954429"/>
              <a:ext cx="613076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優勢在於導入門檻低，不必改模型，也不必先建構複雜基礎設施。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3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697230" y="848678"/>
            <a:ext cx="9837420" cy="2606992"/>
            <a:chOff x="697230" y="848678"/>
            <a:chExt cx="9837420" cy="260699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697230" y="321183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四大約束原則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4687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把設計原則翻譯成管理要求，AI 協作才會從建議升級成制度。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9250" y="2171700"/>
            <a:ext cx="4267200" cy="3793331"/>
            <a:chOff x="1619250" y="2171700"/>
            <a:chExt cx="4267200" cy="3793331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1185" y="22945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設計原則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5952" y="2989421"/>
              <a:ext cx="21511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 Think Before Coding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5952" y="3275171"/>
              <a:ext cx="23164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需求未清楚前先停下來確認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789521"/>
              <a:ext cx="229082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 No Over-engineering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407527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只做當下真正需要的解法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4589621"/>
              <a:ext cx="25701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 Targeted Modifications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952" y="487537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只改與任務直接相關的程式碼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5952" y="5389721"/>
              <a:ext cx="28195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04 Outcome-based Execution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05952" y="567547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以驗收標準驅動修正流程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05550" y="2171700"/>
            <a:ext cx="4267200" cy="3771900"/>
            <a:chOff x="6305550" y="2171700"/>
            <a:chExt cx="4267200" cy="3771900"/>
          </a:xfrm>
        </p:grpSpPr>
        <p:sp>
          <p:nvSpPr>
            <p:cNvPr id="26" name="Rectangle 26"/>
            <p:cNvSpPr/>
            <p:nvPr/>
          </p:nvSpPr>
          <p:spPr>
            <a:xfrm>
              <a:off x="6305550" y="2171700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748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可落地的管理要求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2252" y="2989421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模糊需求必須先澄清，不允許自動假設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92252" y="3503771"/>
              <a:ext cx="32380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禁止預先為未來延展性堆疊過多架構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92252" y="4018121"/>
              <a:ext cx="304807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禁止局部修復時順手重構無關區塊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92252" y="4532471"/>
              <a:ext cx="380816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優先要求可驗證結果，例如先補測試再修正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93242" y="848678"/>
            <a:ext cx="9741408" cy="2510980"/>
            <a:chOff x="793242" y="848678"/>
            <a:chExt cx="9741408" cy="251098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93242" y="3115818"/>
              <a:ext cx="6385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CLOSING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結語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7286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把 AI 協作從偶爾有效，變成可持續複製的工程能力。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47900"/>
            <a:ext cx="8953500" cy="2038350"/>
            <a:chOff x="1619250" y="2247900"/>
            <a:chExt cx="8953500" cy="20383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8953500" cy="2038350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8953500" cy="1143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8815" y="2658428"/>
              <a:ext cx="486702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真正可規模化的 AI 開發能力，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8815" y="3115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來自明確規則、可驗證結果，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8815" y="35728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以及對修改邊界的共同紀律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50" y="4629150"/>
            <a:ext cx="4267200" cy="1138238"/>
            <a:chOff x="1619250" y="4629150"/>
            <a:chExt cx="4267200" cy="1138238"/>
          </a:xfrm>
        </p:grpSpPr>
        <p:sp>
          <p:nvSpPr>
            <p:cNvPr id="20" name="Rectangle 20"/>
            <p:cNvSpPr/>
            <p:nvPr/>
          </p:nvSpPr>
          <p:spPr>
            <a:xfrm>
              <a:off x="1619250" y="4629150"/>
              <a:ext cx="4267200" cy="1066800"/>
            </a:xfrm>
            <a:prstGeom prst="roundRect">
              <a:avLst>
                <a:gd name="adj" fmla="val 16071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06905" y="48834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規則清楚，AI 才能穩定協作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6905" y="5188268"/>
              <a:ext cx="27076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結果可驗證，團隊才敢擴大使用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6905" y="5493068"/>
              <a:ext cx="31666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邊界明確，review 才不會被噪音稀釋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305550" y="4629150"/>
            <a:ext cx="4267200" cy="1066800"/>
            <a:chOff x="6305550" y="4629150"/>
            <a:chExt cx="4267200" cy="1066800"/>
          </a:xfrm>
        </p:grpSpPr>
        <p:sp>
          <p:nvSpPr>
            <p:cNvPr id="25" name="Rectangle 25"/>
            <p:cNvSpPr/>
            <p:nvPr/>
          </p:nvSpPr>
          <p:spPr>
            <a:xfrm>
              <a:off x="6305550" y="4629150"/>
              <a:ext cx="4267200" cy="1066800"/>
            </a:xfrm>
            <a:prstGeom prst="roundRect">
              <a:avLst>
                <a:gd name="adj" fmla="val 16071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4924425"/>
              <a:ext cx="34720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Clear rules. Verifiable outcomes.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1300" y="5248275"/>
              <a:ext cx="23798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Disciplined boundaries.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