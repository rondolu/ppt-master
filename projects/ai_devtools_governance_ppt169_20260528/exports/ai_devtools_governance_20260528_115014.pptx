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emf" ContentType="image/x-em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image" Target="../media/image_ad5a868f5f8e623f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beece79111236e1.emf"/>
  <Relationship Id="rId3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038350" y="-495300"/>
            <a:ext cx="14230350" cy="7353300"/>
            <a:chOff x="-2038350" y="-495300"/>
            <a:chExt cx="142303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0668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-495300"/>
              <a:ext cx="2705100" cy="27051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361950"/>
              <a:ext cx="3352800" cy="33528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2038350" y="1733550"/>
              <a:ext cx="3733800" cy="37338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619250" y="1162050"/>
            <a:ext cx="1714500" cy="323850"/>
            <a:chOff x="1619250" y="1162050"/>
            <a:chExt cx="1714500" cy="323850"/>
          </a:xfrm>
        </p:grpSpPr>
        <p:sp>
          <p:nvSpPr>
            <p:cNvPr id="9" name="Rectangle 9"/>
            <p:cNvSpPr/>
            <p:nvPr/>
          </p:nvSpPr>
          <p:spPr>
            <a:xfrm>
              <a:off x="1619250" y="1162050"/>
              <a:ext cx="1714500" cy="323850"/>
            </a:xfrm>
            <a:prstGeom prst="roundRect">
              <a:avLst>
                <a:gd name="adj" fmla="val 50000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52612" y="1250156"/>
              <a:ext cx="110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AI GOVERNANCE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62100" y="1876425"/>
            <a:ext cx="4152900" cy="1562100"/>
            <a:chOff x="1562100" y="1876425"/>
            <a:chExt cx="4152900" cy="1562100"/>
          </a:xfrm>
        </p:grpSpPr>
        <p:sp>
          <p:nvSpPr>
            <p:cNvPr id="12" name="TextBox 12"/>
            <p:cNvSpPr txBox="1"/>
            <p:nvPr/>
          </p:nvSpPr>
          <p:spPr>
            <a:xfrm>
              <a:off x="1562100" y="1876425"/>
              <a:ext cx="335920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AI 輔助開發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2100" y="25241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治理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24225"/>
              <a:ext cx="40957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A64"/>
                </a:gs>
                <a:gs pos="100000">
                  <a:srgbClr val="2BCB8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6390" y="3768090"/>
            <a:ext cx="5703827" cy="684848"/>
            <a:chOff x="1596390" y="3768090"/>
            <a:chExt cx="5703827" cy="684848"/>
          </a:xfrm>
        </p:grpSpPr>
        <p:sp>
          <p:nvSpPr>
            <p:cNvPr id="16" name="TextBox 16"/>
            <p:cNvSpPr txBox="1"/>
            <p:nvPr/>
          </p:nvSpPr>
          <p:spPr>
            <a:xfrm>
              <a:off x="1596390" y="3768090"/>
              <a:ext cx="57038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當 AI 進入開發流程後，如何建立可治理的協作方式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105" y="4178618"/>
              <a:ext cx="55069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From model capability to boundaries, process, and acceptance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4762500"/>
            <a:ext cx="5391150" cy="876300"/>
            <a:chOff x="1619250" y="4762500"/>
            <a:chExt cx="5391150" cy="876300"/>
          </a:xfrm>
        </p:grpSpPr>
        <p:sp>
          <p:nvSpPr>
            <p:cNvPr id="19" name="Rectangle 19"/>
            <p:cNvSpPr/>
            <p:nvPr/>
          </p:nvSpPr>
          <p:spPr>
            <a:xfrm>
              <a:off x="1619250" y="4762500"/>
              <a:ext cx="539115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6905" y="4978718"/>
              <a:ext cx="38777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起點：Karpathy 觀察與 GitHub 萬星提示詞專案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6905" y="5245418"/>
              <a:ext cx="4255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核心：先定義邊界、流程與驗收標準，再擴大 AI 協作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99248" y="6096000"/>
            <a:ext cx="8916352" cy="409575"/>
            <a:chOff x="1599248" y="6096000"/>
            <a:chExt cx="8916352" cy="409575"/>
          </a:xfrm>
        </p:grpSpPr>
        <p:sp>
          <p:nvSpPr>
            <p:cNvPr id="23" name="TextBox 23"/>
            <p:cNvSpPr txBox="1"/>
            <p:nvPr/>
          </p:nvSpPr>
          <p:spPr>
            <a:xfrm>
              <a:off x="1599248" y="6173629"/>
              <a:ext cx="22767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2026年 AI 協作治理簡報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8250" y="6096000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49262" y="848678"/>
            <a:ext cx="9585388" cy="2354960"/>
            <a:chOff x="949262" y="848678"/>
            <a:chExt cx="9585388" cy="235496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49262" y="2959798"/>
              <a:ext cx="3265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WHY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為什麼值得關注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838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模型能力重要，但真正左右效率與品質的，是協作規則是否清楚。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28850"/>
            <a:ext cx="8953500" cy="2286000"/>
            <a:chOff x="1619250" y="2228850"/>
            <a:chExt cx="895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28850"/>
              <a:ext cx="8953500" cy="2286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2885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5005" y="262604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很多團隊導入 AI 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5005" y="3121342"/>
              <a:ext cx="72552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先比較模型夠不夠聰明、功能夠不夠多，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5005" y="3616642"/>
              <a:ext cx="605813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卻忽略真正關鍵的是規則是否清楚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4838700"/>
            <a:ext cx="5638800" cy="876300"/>
            <a:chOff x="1619250" y="4838700"/>
            <a:chExt cx="5638800" cy="876300"/>
          </a:xfrm>
        </p:grpSpPr>
        <p:sp>
          <p:nvSpPr>
            <p:cNvPr id="20" name="Rectangle 20"/>
            <p:cNvSpPr/>
            <p:nvPr/>
          </p:nvSpPr>
          <p:spPr>
            <a:xfrm>
              <a:off x="1619250" y="4838700"/>
              <a:ext cx="56388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5000" y="503872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這不是單純的工具選型問題，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000" y="532447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而是人機協作設計問題。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4750" y="4838700"/>
            <a:ext cx="3048000" cy="978694"/>
            <a:chOff x="7524750" y="4838700"/>
            <a:chExt cx="3048000" cy="978694"/>
          </a:xfrm>
        </p:grpSpPr>
        <p:sp>
          <p:nvSpPr>
            <p:cNvPr id="24" name="Rectangle 24"/>
            <p:cNvSpPr/>
            <p:nvPr/>
          </p:nvSpPr>
          <p:spPr>
            <a:xfrm>
              <a:off x="7524750" y="4838700"/>
              <a:ext cx="3048000" cy="876300"/>
            </a:xfrm>
            <a:prstGeom prst="roundRect">
              <a:avLst>
                <a:gd name="adj" fmla="val 19565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13358" y="506301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高自由度風險：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13358" y="5310664"/>
              <a:ext cx="14180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AI 自行補完需求，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13358" y="55583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結果常常不是你真正要的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897255" y="848678"/>
            <a:ext cx="9637395" cy="2406967"/>
            <a:chOff x="897255" y="848678"/>
            <a:chExt cx="9637395" cy="2406967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897255" y="301180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RISKS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638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這三個失效點經常一起出現，最後反映成成本上升與信任下降。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9250" y="2171700"/>
            <a:ext cx="2724150" cy="2609850"/>
            <a:chOff x="1619250" y="2171700"/>
            <a:chExt cx="2724150" cy="26098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0975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45005" y="2578418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738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假設先驗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4085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需求還沒講清楚時，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675221"/>
              <a:ext cx="158488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AI 就先補完假設並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3941921"/>
              <a:ext cx="13663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直接開始動手。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33925" y="2171700"/>
            <a:ext cx="2724150" cy="2609850"/>
            <a:chOff x="4733925" y="2171700"/>
            <a:chExt cx="2724150" cy="2609850"/>
          </a:xfrm>
        </p:grpSpPr>
        <p:sp>
          <p:nvSpPr>
            <p:cNvPr id="23" name="Rectangle 23"/>
            <p:cNvSpPr/>
            <p:nvPr/>
          </p:nvSpPr>
          <p:spPr>
            <a:xfrm>
              <a:off x="4733925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3925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4425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2BCB8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9680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2055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過度設計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628" y="34085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明明只是小任務，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0628" y="36752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卻生成過度複雜的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0628" y="3941921"/>
              <a:ext cx="11763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架構與抽象。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48600" y="2171700"/>
            <a:ext cx="2724150" cy="2609850"/>
            <a:chOff x="7848600" y="2171700"/>
            <a:chExt cx="2724150" cy="2609850"/>
          </a:xfrm>
        </p:grpSpPr>
        <p:sp>
          <p:nvSpPr>
            <p:cNvPr id="32" name="Rectangle 32"/>
            <p:cNvSpPr/>
            <p:nvPr/>
          </p:nvSpPr>
          <p:spPr>
            <a:xfrm>
              <a:off x="784860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860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3910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25784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6730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附帶修改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5302" y="34085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只想修一小段，卻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5302" y="36752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順手改動大量不相關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302" y="3941921"/>
              <a:ext cx="155638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的程式碼與結構。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5124450"/>
            <a:ext cx="8953500" cy="876300"/>
            <a:chOff x="1619250" y="5124450"/>
            <a:chExt cx="8953500" cy="876300"/>
          </a:xfrm>
        </p:grpSpPr>
        <p:sp>
          <p:nvSpPr>
            <p:cNvPr id="41" name="Rectangle 41"/>
            <p:cNvSpPr/>
            <p:nvPr/>
          </p:nvSpPr>
          <p:spPr>
            <a:xfrm>
              <a:off x="1619250" y="5124450"/>
              <a:ext cx="89535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35480" y="539305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三者疊加後，溝通、維護與審查成本會同步上升。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0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05256" y="848678"/>
            <a:ext cx="9629394" cy="2398966"/>
            <a:chOff x="905256" y="848678"/>
            <a:chExt cx="9629394" cy="239896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05256" y="3003804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真正昂貴的不是單一錯誤，而是流程被持續打亂與放大。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19250" y="2171700"/>
            <a:ext cx="4267200" cy="3429000"/>
            <a:chOff x="1619250" y="2171700"/>
            <a:chExt cx="42672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對團隊的直接影響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000" y="300037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工程師反覆花時間修正方向偏差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000" y="3400425"/>
              <a:ext cx="35185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Review 需要辨識哪些修改才真正重要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0" y="3800475"/>
              <a:ext cx="32084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來回修補與重工持續拖慢專案節奏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000" y="4200525"/>
              <a:ext cx="32084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無關變更累積，維護成本同步上升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05550" y="2171700"/>
            <a:ext cx="4294346" cy="3429000"/>
            <a:chOff x="6305550" y="2171700"/>
            <a:chExt cx="4294346" cy="3429000"/>
          </a:xfrm>
        </p:grpSpPr>
        <p:sp>
          <p:nvSpPr>
            <p:cNvPr id="22" name="Rectangle 22"/>
            <p:cNvSpPr/>
            <p:nvPr/>
          </p:nvSpPr>
          <p:spPr>
            <a:xfrm>
              <a:off x="63055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2294572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對決策層的訊號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1300" y="3000375"/>
              <a:ext cx="4008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主管該關心的是系統性放大，不是偶發失誤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1300" y="3400425"/>
              <a:ext cx="4008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沒有治理機制時，錯誤會在流程中反覆擴散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380047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工具越普及，管理成本越需要前置設計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1300" y="420052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核心議題是流程控制，不只是模型表現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733235" y="848678"/>
            <a:ext cx="3417712" cy="2570988"/>
            <a:chOff x="733235" y="848678"/>
            <a:chExt cx="3417712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社群給出的解法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9250" y="1409700"/>
            <a:ext cx="8858250" cy="907256"/>
            <a:chOff x="1619250" y="1409700"/>
            <a:chExt cx="8858250" cy="907256"/>
          </a:xfrm>
        </p:grpSpPr>
        <p:sp>
          <p:nvSpPr>
            <p:cNvPr id="12" name="Rectangle 12"/>
            <p:cNvSpPr/>
            <p:nvPr/>
          </p:nvSpPr>
          <p:spPr>
            <a:xfrm>
              <a:off x="1619250" y="1409700"/>
              <a:ext cx="8858250" cy="838200"/>
            </a:xfrm>
            <a:prstGeom prst="roundRect">
              <a:avLst>
                <a:gd name="adj" fmla="val 2045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36432" y="1591151"/>
              <a:ext cx="373739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這個萬星專案的做法很直接：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6432" y="1905476"/>
              <a:ext cx="572214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先用提示詞把高價值協作原則寫成行為邊界。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628900"/>
            <a:ext cx="8858250" cy="800100"/>
            <a:chOff x="1619250" y="2628900"/>
            <a:chExt cx="8858250" cy="800100"/>
          </a:xfrm>
        </p:grpSpPr>
        <p:sp>
          <p:nvSpPr>
            <p:cNvPr id="16" name="Rectangle 16"/>
            <p:cNvSpPr/>
            <p:nvPr/>
          </p:nvSpPr>
          <p:spPr>
            <a:xfrm>
              <a:off x="1619250" y="26289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6289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80248" y="2935129"/>
              <a:ext cx="685535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它沒有重建龐大基礎設施，而是先規範 AI 何時該停、該問、該怎麼驗收。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3638550"/>
            <a:ext cx="8858250" cy="800100"/>
            <a:chOff x="1619250" y="3638550"/>
            <a:chExt cx="8858250" cy="800100"/>
          </a:xfrm>
        </p:grpSpPr>
        <p:sp>
          <p:nvSpPr>
            <p:cNvPr id="20" name="Rectangle 20"/>
            <p:cNvSpPr/>
            <p:nvPr/>
          </p:nvSpPr>
          <p:spPr>
            <a:xfrm>
              <a:off x="1619250" y="363855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363855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0248" y="3944779"/>
              <a:ext cx="69708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價值在於導入成本低，團隊不必等更強模型，也不必先投入大量工程資源。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4648200"/>
            <a:ext cx="8858250" cy="800100"/>
            <a:chOff x="1619250" y="4648200"/>
            <a:chExt cx="8858250" cy="800100"/>
          </a:xfrm>
        </p:grpSpPr>
        <p:sp>
          <p:nvSpPr>
            <p:cNvPr id="24" name="Rectangle 24"/>
            <p:cNvSpPr/>
            <p:nvPr/>
          </p:nvSpPr>
          <p:spPr>
            <a:xfrm>
              <a:off x="1619250" y="46482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46482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0248" y="4954429"/>
              <a:ext cx="62252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先把邊界定清楚，就能先改善 AI 協作品質，再逐步擴大使用範圍。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3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697230" y="848678"/>
            <a:ext cx="9837420" cy="2606992"/>
            <a:chOff x="697230" y="848678"/>
            <a:chExt cx="9837420" cy="260699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1286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這四個原則可以視為 AI 協作的最小治理框架。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2171700"/>
            <a:ext cx="4267200" cy="3793331"/>
            <a:chOff x="1619250" y="2171700"/>
            <a:chExt cx="4267200" cy="3793331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四個最小治理原則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952" y="29894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 Think Before Coding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952" y="32751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先確認再動手，降低方向性錯誤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789521"/>
              <a:ext cx="229082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 No Over-engineering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40752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避免過度設計，控制維護成本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4589621"/>
              <a:ext cx="25701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 Targeted Modifications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952" y="4875371"/>
              <a:ext cx="269652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只做標靶式修改，保護既有結構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952" y="5389721"/>
              <a:ext cx="28195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04 Outcome-based Execution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952" y="5675471"/>
              <a:ext cx="307657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用驗收標準驅動執行，讓輸出可驗證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05550" y="2171700"/>
            <a:ext cx="4267200" cy="3771900"/>
            <a:chOff x="6305550" y="2171700"/>
            <a:chExt cx="4267200" cy="3771900"/>
          </a:xfrm>
        </p:grpSpPr>
        <p:sp>
          <p:nvSpPr>
            <p:cNvPr id="26" name="Rectangle 26"/>
            <p:cNvSpPr/>
            <p:nvPr/>
          </p:nvSpPr>
          <p:spPr>
            <a:xfrm>
              <a:off x="63055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4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可落地的管理要求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2252" y="2989421"/>
              <a:ext cx="38936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把 AI 從自由發揮拉回可檢查、可管理的流程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2252" y="3503771"/>
              <a:ext cx="315258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每一步都能被 review、驗證與回溯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252" y="4018121"/>
              <a:ext cx="30480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規則先定義，協作品質才有一致性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2252" y="4532471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目標不是放手，而是讓輸出可被管理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450" y="6343650"/>
              <a:ext cx="323850" cy="4000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793242" y="848678"/>
            <a:ext cx="9741408" cy="2510980"/>
            <a:chOff x="793242" y="848678"/>
            <a:chExt cx="9741408" cy="2510980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93242" y="3115818"/>
              <a:ext cx="6385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CLOSING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結語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44986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組織真正要建立的，不只是會用 AI，而是用對 AI。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247900"/>
            <a:ext cx="8953500" cy="2038350"/>
            <a:chOff x="1619250" y="2247900"/>
            <a:chExt cx="8953500" cy="2038350"/>
          </a:xfrm>
        </p:grpSpPr>
        <p:sp>
          <p:nvSpPr>
            <p:cNvPr id="14" name="Rectangle 14"/>
            <p:cNvSpPr/>
            <p:nvPr/>
          </p:nvSpPr>
          <p:spPr>
            <a:xfrm>
              <a:off x="1619250" y="2247900"/>
              <a:ext cx="8953500" cy="2038350"/>
            </a:xfrm>
            <a:prstGeom prst="roundRect">
              <a:avLst>
                <a:gd name="adj" fmla="val 9346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247900"/>
              <a:ext cx="8953500" cy="1143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48815" y="2658428"/>
              <a:ext cx="415293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可規模化的 AI 開發流程，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8815" y="311562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不是讓模型無限制參與，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8815" y="3572828"/>
              <a:ext cx="756270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而是先定義能做什麼、不能做什麼、何時算完成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19250" y="4629150"/>
            <a:ext cx="4282440" cy="1138238"/>
            <a:chOff x="1619250" y="4629150"/>
            <a:chExt cx="4282440" cy="1138238"/>
          </a:xfrm>
        </p:grpSpPr>
        <p:sp>
          <p:nvSpPr>
            <p:cNvPr id="20" name="Rectangle 20"/>
            <p:cNvSpPr/>
            <p:nvPr/>
          </p:nvSpPr>
          <p:spPr>
            <a:xfrm>
              <a:off x="16192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6905" y="4883468"/>
              <a:ext cx="30676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先定義哪些事情可以做、哪些不能做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6905" y="5188268"/>
              <a:ext cx="30676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先定義做到什麼程度，才算真正完成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6905" y="54930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規則、驗收、邊界建立後，AI 才能變成組織能力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05550" y="4629150"/>
            <a:ext cx="4267200" cy="1066800"/>
            <a:chOff x="6305550" y="4629150"/>
            <a:chExt cx="4267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6305550" y="4629150"/>
              <a:ext cx="4267200" cy="1066800"/>
            </a:xfrm>
            <a:prstGeom prst="roundRect">
              <a:avLst>
                <a:gd name="adj" fmla="val 16071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4924425"/>
              <a:ext cx="28419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Use AI well, not just often.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5248275"/>
              <a:ext cx="33250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Rules turn tools into capability.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