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今天這份簡報的核心觀點很直接，AI 參與程式開發之後，真正決定效率與品質的，不只是模型能力，而是協作邊界設計得夠不夠精確。這裡我們不是從理論出發，而是從 GitHub 上高關注的提示詞治理實踐切入，觀察哪些規則能把 AI 從不穩定的執行者，變成可管理的協作模組。</a:t>
            </a:r>
          </a:p>
          <a:p>
            <a:endParaRPr lang="zh-CN" dirty="0"/>
          </a:p>
          <a:p>
            <a:r>
              <a:rPr lang="zh-CN" dirty="0"/>
              <a:t>接下來七頁，我會先說明為什麼這件事值得關注，再拆解常見失效點，最後收斂到一組可執行的治理原則。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最重要的一句話是，當 AI 開始參與程式開發，真正決定效率與品質的，是協作規則是否足夠精確。換句話說，影響產出穩定性的關鍵，不在於模型會不會寫程式，而在於團隊有沒有事先定義清楚什麼時候要停下來確認、什麼不能順手改、以及什麼叫做完成。</a:t>
            </a:r>
          </a:p>
          <a:p>
            <a:endParaRPr lang="zh-CN" dirty="0"/>
          </a:p>
          <a:p>
            <a:r>
              <a:rPr lang="zh-CN" dirty="0"/>
              <a:t>如果沒有這些規則，AI 看起來像在加速，實際上是在把錯誤成本延後到 review 與維護階段才爆出來。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實務觀察來看，最常見的失效點可以濃縮成三類，而且它們通常不是分開出現。第一類是需求還不清楚時就直接選路徑執行，方向一開始就偏掉。第二類是為了簡單任務提前堆疊過多架構，讓系統還沒變複雜，維護成本先變複雜。第三類是局部修復時連帶改動無關區塊，讓 review 的焦點被噪音沖散。</a:t>
            </a:r>
          </a:p>
          <a:p>
            <a:endParaRPr lang="zh-CN" dirty="0"/>
          </a:p>
          <a:p>
            <a:r>
              <a:rPr lang="zh-CN" dirty="0"/>
              <a:t>三者合在一起，最後會把團隊拖向方向偏差、維護膨脹與審查變慢。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這件事的成本其實同時落在工程端與管理端。對工程團隊來說，最直接的感受是要花時間把 AI 拉回正確方向，程式碼量變大，review 時也更難抓到真正重要的差異。對決策層來說，這代表問題不是單一 bug，而是使用 AI 的流程治理還沒有建立起來。</a:t>
            </a:r>
          </a:p>
          <a:p>
            <a:endParaRPr lang="zh-CN" dirty="0"/>
          </a:p>
          <a:p>
            <a:r>
              <a:rPr lang="zh-CN" dirty="0"/>
              <a:t>也就是說，工具越普及，治理成本就越不能放到最後才補，而是要前置到協作規則的設計裡。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目前給出的解法並不昂貴，但很有效，就是把邊界、停損點與驗收方式直接寫進系統提示詞與工作流程裡。這類做法之所以快速累積關注，是因為它不要求團隊先改模型，也不要求先建構新的大型基礎設施，而是先用規則把 AI 的輸出穩定下來。</a:t>
            </a:r>
          </a:p>
          <a:p>
            <a:endParaRPr lang="zh-CN" dirty="0"/>
          </a:p>
          <a:p>
            <a:r>
              <a:rPr lang="zh-CN" dirty="0"/>
              <a:t>從治理角度看，這一步很重要，因為它把 AI 從一個不可預測的助手，轉成一個行為邊界清楚的協作角色。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最後想留下的結論是，真正可規模化的 AI 開發能力，不是建立在更強的自動化幻覺上，而是建立在更明確的規則、更可驗證的結果，以及對修改邊界的共同紀律上。當團隊把這三件事講清楚，AI 才會從偶爾有效，變成可以持續複製的生產力系統。</a:t>
            </a:r>
          </a:p>
          <a:p>
            <a:endParaRPr lang="zh-CN" dirty="0"/>
          </a:p>
          <a:p>
            <a:r>
              <a:rPr lang="zh-CN" dirty="0"/>
              <a:t>這也是 AI 輔助開發治理真正要處理的問題。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2038350" y="-495300"/>
            <a:ext cx="14230350" cy="7353300"/>
            <a:chOff x="-2038350" y="-495300"/>
            <a:chExt cx="142303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0668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-495300"/>
              <a:ext cx="2705100" cy="27051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361950"/>
              <a:ext cx="3352800" cy="33528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2038350" y="1733550"/>
              <a:ext cx="3733800" cy="37338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619250" y="1162050"/>
            <a:ext cx="1714500" cy="323850"/>
            <a:chOff x="1619250" y="1162050"/>
            <a:chExt cx="1714500" cy="323850"/>
          </a:xfrm>
        </p:grpSpPr>
        <p:sp>
          <p:nvSpPr>
            <p:cNvPr id="9" name="Rectangle 9"/>
            <p:cNvSpPr/>
            <p:nvPr/>
          </p:nvSpPr>
          <p:spPr>
            <a:xfrm>
              <a:off x="1619250" y="1162050"/>
              <a:ext cx="1714500" cy="323850"/>
            </a:xfrm>
            <a:prstGeom prst="roundRect">
              <a:avLst>
                <a:gd name="adj" fmla="val 50000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52612" y="1250156"/>
              <a:ext cx="110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AI GOVERNANCE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2100" y="1876425"/>
            <a:ext cx="4152900" cy="1562100"/>
            <a:chOff x="1562100" y="1876425"/>
            <a:chExt cx="4152900" cy="1562100"/>
          </a:xfrm>
        </p:grpSpPr>
        <p:sp>
          <p:nvSpPr>
            <p:cNvPr id="12" name="TextBox 12"/>
            <p:cNvSpPr txBox="1"/>
            <p:nvPr/>
          </p:nvSpPr>
          <p:spPr>
            <a:xfrm>
              <a:off x="1562100" y="1876425"/>
              <a:ext cx="335920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AI 輔助開發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2100" y="25241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治理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324225"/>
              <a:ext cx="40957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AA64"/>
                </a:gs>
                <a:gs pos="100000">
                  <a:srgbClr val="2BCB8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96390" y="3768090"/>
            <a:ext cx="5703827" cy="684848"/>
            <a:chOff x="1596390" y="3768090"/>
            <a:chExt cx="5703827" cy="684848"/>
          </a:xfrm>
        </p:grpSpPr>
        <p:sp>
          <p:nvSpPr>
            <p:cNvPr id="16" name="TextBox 16"/>
            <p:cNvSpPr txBox="1"/>
            <p:nvPr/>
          </p:nvSpPr>
          <p:spPr>
            <a:xfrm>
              <a:off x="1596390" y="3768090"/>
              <a:ext cx="57038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當 AI 進入開發流程後，如何建立可治理的協作方式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2105" y="4178618"/>
              <a:ext cx="55069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From model capability to boundaries, process, and acceptance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4762500"/>
            <a:ext cx="5391150" cy="876300"/>
            <a:chOff x="1619250" y="4762500"/>
            <a:chExt cx="5391150" cy="876300"/>
          </a:xfrm>
        </p:grpSpPr>
        <p:sp>
          <p:nvSpPr>
            <p:cNvPr id="19" name="Rectangle 19"/>
            <p:cNvSpPr/>
            <p:nvPr/>
          </p:nvSpPr>
          <p:spPr>
            <a:xfrm>
              <a:off x="1619250" y="4762500"/>
              <a:ext cx="5391150" cy="876300"/>
            </a:xfrm>
            <a:prstGeom prst="roundRect">
              <a:avLst>
                <a:gd name="adj" fmla="val 19565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06905" y="4978718"/>
              <a:ext cx="38777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起點：Karpathy 觀察與 GitHub 萬星提示詞專案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6905" y="5245418"/>
              <a:ext cx="42558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核心：先定義邊界、流程與驗收標準，再擴大 AI 協作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99248" y="6096000"/>
            <a:ext cx="8916352" cy="409575"/>
            <a:chOff x="1599248" y="6096000"/>
            <a:chExt cx="8916352" cy="409575"/>
          </a:xfrm>
        </p:grpSpPr>
        <p:sp>
          <p:nvSpPr>
            <p:cNvPr id="23" name="TextBox 23"/>
            <p:cNvSpPr txBox="1"/>
            <p:nvPr/>
          </p:nvSpPr>
          <p:spPr>
            <a:xfrm>
              <a:off x="1599248" y="6173629"/>
              <a:ext cx="22767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2026年 AI 協作治理簡報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960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49262" y="848678"/>
            <a:ext cx="9585388" cy="2354960"/>
            <a:chOff x="949262" y="848678"/>
            <a:chExt cx="9585388" cy="235496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949262" y="2959798"/>
              <a:ext cx="3265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WHY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為什麼值得關注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8388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模型能力重要，但真正左右效率與品質的，是協作規則是否清楚。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28850"/>
            <a:ext cx="8953500" cy="2286000"/>
            <a:chOff x="1619250" y="2228850"/>
            <a:chExt cx="89535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28850"/>
              <a:ext cx="8953500" cy="2286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28850"/>
              <a:ext cx="8953500" cy="1143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5005" y="2626042"/>
              <a:ext cx="38434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很多團隊導入 AI 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5005" y="3121342"/>
              <a:ext cx="72552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先比較模型夠不夠聰明、功能夠不夠多，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5005" y="3616642"/>
              <a:ext cx="60581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卻忽略真正關鍵的是規則是否清楚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4838700"/>
            <a:ext cx="5638800" cy="876300"/>
            <a:chOff x="1619250" y="4838700"/>
            <a:chExt cx="5638800" cy="876300"/>
          </a:xfrm>
        </p:grpSpPr>
        <p:sp>
          <p:nvSpPr>
            <p:cNvPr id="20" name="Rectangle 20"/>
            <p:cNvSpPr/>
            <p:nvPr/>
          </p:nvSpPr>
          <p:spPr>
            <a:xfrm>
              <a:off x="1619250" y="4838700"/>
              <a:ext cx="5638800" cy="876300"/>
            </a:xfrm>
            <a:prstGeom prst="roundRect">
              <a:avLst>
                <a:gd name="adj" fmla="val 1956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05000" y="5038725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這不是單純的工具選型問題，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000" y="532447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而是人機協作設計問題。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24750" y="4838700"/>
            <a:ext cx="3048000" cy="978694"/>
            <a:chOff x="7524750" y="4838700"/>
            <a:chExt cx="3048000" cy="978694"/>
          </a:xfrm>
        </p:grpSpPr>
        <p:sp>
          <p:nvSpPr>
            <p:cNvPr id="24" name="Rectangle 24"/>
            <p:cNvSpPr/>
            <p:nvPr/>
          </p:nvSpPr>
          <p:spPr>
            <a:xfrm>
              <a:off x="7524750" y="4838700"/>
              <a:ext cx="3048000" cy="876300"/>
            </a:xfrm>
            <a:prstGeom prst="roundRect">
              <a:avLst>
                <a:gd name="adj" fmla="val 19565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13358" y="506301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高自由度風險：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3358" y="5310664"/>
              <a:ext cx="14180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AI 自行補完需求，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13358" y="55583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結果常常不是你真正要的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897255" y="848678"/>
            <a:ext cx="9637395" cy="2406967"/>
            <a:chOff x="897255" y="848678"/>
            <a:chExt cx="9637395" cy="2406967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897255" y="3011805"/>
              <a:ext cx="4305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RISKS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目前最常見的三個失效點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這三個失效點經常一起出現，最後反映成成本上升與信任下降。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2171700"/>
            <a:ext cx="2724150" cy="2609850"/>
            <a:chOff x="1619250" y="2171700"/>
            <a:chExt cx="2724150" cy="26098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80975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45005" y="2578418"/>
              <a:ext cx="194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7380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假設先驗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4085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需求還沒講清楚時，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3675221"/>
              <a:ext cx="158488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AI 就先補完假設並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3941921"/>
              <a:ext cx="13663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直接開始動手。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33925" y="2171700"/>
            <a:ext cx="2724150" cy="2609850"/>
            <a:chOff x="4733925" y="2171700"/>
            <a:chExt cx="2724150" cy="2609850"/>
          </a:xfrm>
        </p:grpSpPr>
        <p:sp>
          <p:nvSpPr>
            <p:cNvPr id="23" name="Rectangle 23"/>
            <p:cNvSpPr/>
            <p:nvPr/>
          </p:nvSpPr>
          <p:spPr>
            <a:xfrm>
              <a:off x="4733925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33925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924425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2BCB8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9680" y="25784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12055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過度設計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0628" y="34085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明明只是小任務，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0628" y="36752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卻生成過度複雜的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20628" y="3941921"/>
              <a:ext cx="11763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架構與抽象。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48600" y="2171700"/>
            <a:ext cx="2724150" cy="2609850"/>
            <a:chOff x="7848600" y="2171700"/>
            <a:chExt cx="2724150" cy="2609850"/>
          </a:xfrm>
        </p:grpSpPr>
        <p:sp>
          <p:nvSpPr>
            <p:cNvPr id="32" name="Rectangle 32"/>
            <p:cNvSpPr/>
            <p:nvPr/>
          </p:nvSpPr>
          <p:spPr>
            <a:xfrm>
              <a:off x="7848600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4860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3910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74355" y="25784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6730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附帶修改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5302" y="34085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只想修一小段，卻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5302" y="36752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順手改動大量不相關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35302" y="39419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的程式碼與結構。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19250" y="5124450"/>
            <a:ext cx="8953500" cy="876300"/>
            <a:chOff x="1619250" y="5124450"/>
            <a:chExt cx="8953500" cy="876300"/>
          </a:xfrm>
        </p:grpSpPr>
        <p:sp>
          <p:nvSpPr>
            <p:cNvPr id="41" name="Rectangle 41"/>
            <p:cNvSpPr/>
            <p:nvPr/>
          </p:nvSpPr>
          <p:spPr>
            <a:xfrm>
              <a:off x="1619250" y="5124450"/>
              <a:ext cx="8953500" cy="876300"/>
            </a:xfrm>
            <a:prstGeom prst="roundRect">
              <a:avLst>
                <a:gd name="adj" fmla="val 1956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943100" y="5305425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266700" y="250031"/>
                  </a:moveTo>
                  <a:lnTo>
                    <a:pt x="0" y="250031"/>
                  </a:lnTo>
                  <a:lnTo>
                    <a:pt x="0" y="200025"/>
                  </a:lnTo>
                  <a:lnTo>
                    <a:pt x="116681" y="0"/>
                  </a:lnTo>
                  <a:lnTo>
                    <a:pt x="150019" y="0"/>
                  </a:lnTo>
                  <a:lnTo>
                    <a:pt x="266700" y="200025"/>
                  </a:lnTo>
                  <a:lnTo>
                    <a:pt x="266700" y="250031"/>
                  </a:lnTo>
                  <a:close/>
                  <a:moveTo>
                    <a:pt x="116681" y="66675"/>
                  </a:moveTo>
                  <a:lnTo>
                    <a:pt x="150019" y="66675"/>
                  </a:lnTo>
                  <a:lnTo>
                    <a:pt x="150019" y="150019"/>
                  </a:lnTo>
                  <a:lnTo>
                    <a:pt x="116681" y="150019"/>
                  </a:lnTo>
                  <a:lnTo>
                    <a:pt x="116681" y="66675"/>
                  </a:lnTo>
                  <a:close/>
                  <a:moveTo>
                    <a:pt x="116681" y="183356"/>
                  </a:moveTo>
                  <a:lnTo>
                    <a:pt x="150019" y="183356"/>
                  </a:lnTo>
                  <a:lnTo>
                    <a:pt x="150019" y="216694"/>
                  </a:lnTo>
                  <a:lnTo>
                    <a:pt x="116681" y="216694"/>
                  </a:lnTo>
                  <a:lnTo>
                    <a:pt x="116681" y="1833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35530" y="5393055"/>
              <a:ext cx="6522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三者疊加後，溝通、維護與審查成本會同步上升。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40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05256" y="848678"/>
            <a:ext cx="9629394" cy="2398966"/>
            <a:chOff x="905256" y="848678"/>
            <a:chExt cx="9629394" cy="239896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905256" y="3003804"/>
              <a:ext cx="4145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問題的管理成本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真正昂貴的不是單一錯誤，而是流程被持續打亂與放大。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19250" y="2171700"/>
            <a:ext cx="4267200" cy="3429000"/>
            <a:chOff x="1619250" y="2171700"/>
            <a:chExt cx="4267200" cy="34290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885950" y="2319338"/>
              <a:ext cx="228600" cy="200024"/>
              <a:chOff x="1885950" y="2319338"/>
              <a:chExt cx="228600" cy="20002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928812" y="23193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885950" y="2419350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42862" y="0"/>
                    </a:moveTo>
                    <a:cubicBezTo>
                      <a:pt x="19190" y="0"/>
                      <a:pt x="0" y="19190"/>
                      <a:pt x="0" y="42862"/>
                    </a:cubicBezTo>
                    <a:lnTo>
                      <a:pt x="0" y="100012"/>
                    </a:lnTo>
                    <a:lnTo>
                      <a:pt x="114300" y="100012"/>
                    </a:lnTo>
                    <a:lnTo>
                      <a:pt x="114300" y="0"/>
                    </a:lnTo>
                    <a:lnTo>
                      <a:pt x="4286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028825" y="2419350"/>
                <a:ext cx="857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0012">
                    <a:moveTo>
                      <a:pt x="42862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85725" y="100012"/>
                    </a:lnTo>
                    <a:lnTo>
                      <a:pt x="85725" y="42862"/>
                    </a:lnTo>
                    <a:cubicBezTo>
                      <a:pt x="85725" y="19190"/>
                      <a:pt x="66535" y="0"/>
                      <a:pt x="428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028825" y="23336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222313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對團隊的直接影響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000" y="3000375"/>
              <a:ext cx="30084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工程師反覆花時間修正方向偏差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5000" y="3400425"/>
              <a:ext cx="35185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Review 需要辨識哪些修改才真正重要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05000" y="3800475"/>
              <a:ext cx="32084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來回修補與重工持續拖慢專案節奏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5000" y="4200525"/>
              <a:ext cx="32084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無關變更累積，維護成本同步上升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305550" y="2171700"/>
            <a:ext cx="4294346" cy="3429000"/>
            <a:chOff x="6305550" y="2171700"/>
            <a:chExt cx="4294346" cy="3429000"/>
          </a:xfrm>
        </p:grpSpPr>
        <p:sp>
          <p:nvSpPr>
            <p:cNvPr id="27" name="Rectangle 27"/>
            <p:cNvSpPr/>
            <p:nvPr/>
          </p:nvSpPr>
          <p:spPr>
            <a:xfrm>
              <a:off x="63055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572250" y="2319338"/>
              <a:ext cx="228600" cy="200025"/>
              <a:chOff x="6572250" y="2319338"/>
              <a:chExt cx="228600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43700" y="2319338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00025">
                    <a:moveTo>
                      <a:pt x="57150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57150" y="200025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57975" y="2376488"/>
                <a:ext cx="571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7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142875"/>
                    </a:lnTo>
                    <a:lnTo>
                      <a:pt x="0" y="1428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72250" y="2433638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85725"/>
                    </a:lnTo>
                    <a:lnTo>
                      <a:pt x="0" y="85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909435" y="2294572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對決策層的訊號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91300" y="3000375"/>
              <a:ext cx="4008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主管該關心的是系統性放大，不是偶發失誤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91300" y="3400425"/>
              <a:ext cx="4008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沒有治理機制時，錯誤會在流程中反覆擴散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91300" y="3800475"/>
              <a:ext cx="36085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工具越普及，管理成本越需要前置設計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91300" y="4200525"/>
              <a:ext cx="36085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核心議題是流程控制，不只是模型表現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733235" y="848678"/>
            <a:ext cx="3417712" cy="2570988"/>
            <a:chOff x="733235" y="848678"/>
            <a:chExt cx="3417712" cy="257098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33235" y="3175826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SOLUTION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社群給出的解法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9250" y="1409700"/>
            <a:ext cx="8858250" cy="907256"/>
            <a:chOff x="1619250" y="1409700"/>
            <a:chExt cx="8858250" cy="907256"/>
          </a:xfrm>
        </p:grpSpPr>
        <p:sp>
          <p:nvSpPr>
            <p:cNvPr id="12" name="Rectangle 12"/>
            <p:cNvSpPr/>
            <p:nvPr/>
          </p:nvSpPr>
          <p:spPr>
            <a:xfrm>
              <a:off x="1619250" y="1409700"/>
              <a:ext cx="8858250" cy="838200"/>
            </a:xfrm>
            <a:prstGeom prst="roundRect">
              <a:avLst>
                <a:gd name="adj" fmla="val 2045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36432" y="1591151"/>
              <a:ext cx="373739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這個萬星專案的做法很直接：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6432" y="1905476"/>
              <a:ext cx="572214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先用提示詞把高價值協作原則寫成行為邊界。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19250" y="2628900"/>
            <a:ext cx="8858250" cy="800100"/>
            <a:chOff x="1619250" y="2628900"/>
            <a:chExt cx="8858250" cy="800100"/>
          </a:xfrm>
        </p:grpSpPr>
        <p:sp>
          <p:nvSpPr>
            <p:cNvPr id="16" name="Rectangle 16"/>
            <p:cNvSpPr/>
            <p:nvPr/>
          </p:nvSpPr>
          <p:spPr>
            <a:xfrm>
              <a:off x="1619250" y="26289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19250" y="26289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957388" y="2905125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47864" y="191351"/>
                  </a:moveTo>
                  <a:lnTo>
                    <a:pt x="100012" y="228600"/>
                  </a:lnTo>
                  <a:lnTo>
                    <a:pt x="152160" y="191351"/>
                  </a:lnTo>
                  <a:cubicBezTo>
                    <a:pt x="182198" y="169896"/>
                    <a:pt x="200025" y="135255"/>
                    <a:pt x="200025" y="98342"/>
                  </a:cubicBezTo>
                  <a:lnTo>
                    <a:pt x="200025" y="42862"/>
                  </a:lnTo>
                  <a:lnTo>
                    <a:pt x="100012" y="0"/>
                  </a:lnTo>
                  <a:lnTo>
                    <a:pt x="0" y="42862"/>
                  </a:lnTo>
                  <a:lnTo>
                    <a:pt x="0" y="98342"/>
                  </a:lnTo>
                  <a:cubicBezTo>
                    <a:pt x="0" y="135255"/>
                    <a:pt x="17827" y="169896"/>
                    <a:pt x="47864" y="191351"/>
                  </a:cubicBezTo>
                  <a:close/>
                </a:path>
              </a:pathLst>
            </a:custGeom>
            <a:solidFill>
              <a:srgbClr val="00AA6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23148" y="2935129"/>
              <a:ext cx="685535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它沒有重建龐大基礎設施，而是先規範 AI 何時該停、該問、該怎麼驗收。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19250" y="3638550"/>
            <a:ext cx="8858250" cy="800100"/>
            <a:chOff x="1619250" y="3638550"/>
            <a:chExt cx="8858250" cy="800100"/>
          </a:xfrm>
        </p:grpSpPr>
        <p:sp>
          <p:nvSpPr>
            <p:cNvPr id="21" name="Rectangle 21"/>
            <p:cNvSpPr/>
            <p:nvPr/>
          </p:nvSpPr>
          <p:spPr>
            <a:xfrm>
              <a:off x="1619250" y="363855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619250" y="363855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943100" y="3914775"/>
              <a:ext cx="228600" cy="228600"/>
              <a:chOff x="1943100" y="3914775"/>
              <a:chExt cx="228600" cy="228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943100" y="39147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6718" y="28608"/>
                    </a:moveTo>
                    <a:cubicBezTo>
                      <a:pt x="115915" y="28586"/>
                      <a:pt x="115109" y="28575"/>
                      <a:pt x="114300" y="28575"/>
                    </a:cubicBezTo>
                    <a:cubicBezTo>
                      <a:pt x="66955" y="28575"/>
                      <a:pt x="28575" y="66955"/>
                      <a:pt x="28575" y="114300"/>
                    </a:cubicBezTo>
                    <a:cubicBezTo>
                      <a:pt x="28575" y="161644"/>
                      <a:pt x="66955" y="200025"/>
                      <a:pt x="114300" y="200025"/>
                    </a:cubicBezTo>
                    <a:cubicBezTo>
                      <a:pt x="161644" y="200025"/>
                      <a:pt x="200025" y="161644"/>
                      <a:pt x="200025" y="114300"/>
                    </a:cubicBezTo>
                    <a:cubicBezTo>
                      <a:pt x="200025" y="113491"/>
                      <a:pt x="200014" y="112685"/>
                      <a:pt x="199992" y="111882"/>
                    </a:cubicBezTo>
                    <a:lnTo>
                      <a:pt x="225231" y="86643"/>
                    </a:lnTo>
                    <a:cubicBezTo>
                      <a:pt x="227431" y="95499"/>
                      <a:pt x="228600" y="104763"/>
                      <a:pt x="228600" y="114300"/>
                    </a:cubicBez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23837" y="0"/>
                      <a:pt x="133101" y="1168"/>
                      <a:pt x="141957" y="3369"/>
                    </a:cubicBezTo>
                    <a:lnTo>
                      <a:pt x="116718" y="28608"/>
                    </a:lnTo>
                    <a:close/>
                  </a:path>
                </a:pathLst>
              </a:custGeom>
              <a:solidFill>
                <a:srgbClr val="2BCB8A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000250" y="3973725"/>
                <a:ext cx="112500" cy="112500"/>
              </a:xfrm>
              <a:custGeom>
                <a:avLst/>
                <a:gdLst/>
                <a:ahLst/>
                <a:cxnLst/>
                <a:rect l="l" t="t" r="r" b="b"/>
                <a:pathLst>
                  <a:path w="112500" h="112500">
                    <a:moveTo>
                      <a:pt x="0" y="55349"/>
                    </a:moveTo>
                    <a:cubicBezTo>
                      <a:pt x="0" y="28720"/>
                      <a:pt x="18213" y="6344"/>
                      <a:pt x="42862" y="0"/>
                    </a:cubicBezTo>
                    <a:lnTo>
                      <a:pt x="42862" y="30597"/>
                    </a:lnTo>
                    <a:cubicBezTo>
                      <a:pt x="34321" y="35538"/>
                      <a:pt x="28575" y="44773"/>
                      <a:pt x="28575" y="55349"/>
                    </a:cubicBezTo>
                    <a:cubicBezTo>
                      <a:pt x="28575" y="71131"/>
                      <a:pt x="41368" y="83924"/>
                      <a:pt x="57150" y="83924"/>
                    </a:cubicBezTo>
                    <a:cubicBezTo>
                      <a:pt x="67727" y="83924"/>
                      <a:pt x="76961" y="78178"/>
                      <a:pt x="81902" y="69637"/>
                    </a:cubicBezTo>
                    <a:lnTo>
                      <a:pt x="112500" y="69637"/>
                    </a:lnTo>
                    <a:cubicBezTo>
                      <a:pt x="106155" y="94286"/>
                      <a:pt x="83780" y="112500"/>
                      <a:pt x="57150" y="112500"/>
                    </a:cubicBezTo>
                    <a:cubicBezTo>
                      <a:pt x="25587" y="112500"/>
                      <a:pt x="0" y="86913"/>
                      <a:pt x="0" y="55349"/>
                    </a:cubicBezTo>
                    <a:close/>
                  </a:path>
                </a:pathLst>
              </a:custGeom>
              <a:solidFill>
                <a:srgbClr val="2BCB8A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054441" y="3914775"/>
                <a:ext cx="117259" cy="117259"/>
              </a:xfrm>
              <a:custGeom>
                <a:avLst/>
                <a:gdLst/>
                <a:ahLst/>
                <a:cxnLst/>
                <a:rect l="l" t="t" r="r" b="b"/>
                <a:pathLst>
                  <a:path w="117259" h="117259">
                    <a:moveTo>
                      <a:pt x="88684" y="28575"/>
                    </a:moveTo>
                    <a:lnTo>
                      <a:pt x="74397" y="0"/>
                    </a:lnTo>
                    <a:lnTo>
                      <a:pt x="31534" y="42862"/>
                    </a:lnTo>
                    <a:lnTo>
                      <a:pt x="31534" y="65519"/>
                    </a:lnTo>
                    <a:lnTo>
                      <a:pt x="0" y="97053"/>
                    </a:lnTo>
                    <a:lnTo>
                      <a:pt x="20206" y="117259"/>
                    </a:lnTo>
                    <a:lnTo>
                      <a:pt x="51739" y="85725"/>
                    </a:lnTo>
                    <a:lnTo>
                      <a:pt x="74397" y="85725"/>
                    </a:lnTo>
                    <a:lnTo>
                      <a:pt x="117259" y="42862"/>
                    </a:lnTo>
                    <a:lnTo>
                      <a:pt x="88684" y="28575"/>
                    </a:lnTo>
                    <a:close/>
                  </a:path>
                </a:pathLst>
              </a:custGeom>
              <a:solidFill>
                <a:srgbClr val="2BCB8A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2323148" y="3944779"/>
              <a:ext cx="697087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價值在於導入成本低，團隊不必等更強模型，也不必先投入大量工程資源。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19250" y="4648200"/>
            <a:ext cx="8858250" cy="800100"/>
            <a:chOff x="1619250" y="4648200"/>
            <a:chExt cx="8858250" cy="800100"/>
          </a:xfrm>
        </p:grpSpPr>
        <p:sp>
          <p:nvSpPr>
            <p:cNvPr id="29" name="Rectangle 29"/>
            <p:cNvSpPr/>
            <p:nvPr/>
          </p:nvSpPr>
          <p:spPr>
            <a:xfrm>
              <a:off x="1619250" y="46482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619250" y="46482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943100" y="49244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11182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323148" y="4954429"/>
              <a:ext cx="622527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先把邊界定清楚，就能先改善 AI 協作品質，再逐步擴大使用範圍。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8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697230" y="848678"/>
            <a:ext cx="9837420" cy="2606992"/>
            <a:chOff x="697230" y="848678"/>
            <a:chExt cx="9837420" cy="260699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697230" y="321183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四大約束原則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1286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這四個原則可以視為 AI 協作的最小治理框架。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19250" y="2171700"/>
            <a:ext cx="4267200" cy="3793331"/>
            <a:chOff x="1619250" y="2171700"/>
            <a:chExt cx="4267200" cy="3793331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900238" y="230505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47864" y="191351"/>
                  </a:moveTo>
                  <a:lnTo>
                    <a:pt x="100012" y="228600"/>
                  </a:lnTo>
                  <a:lnTo>
                    <a:pt x="152160" y="191351"/>
                  </a:lnTo>
                  <a:cubicBezTo>
                    <a:pt x="182198" y="169896"/>
                    <a:pt x="200025" y="135255"/>
                    <a:pt x="200025" y="98342"/>
                  </a:cubicBezTo>
                  <a:lnTo>
                    <a:pt x="200025" y="42862"/>
                  </a:lnTo>
                  <a:lnTo>
                    <a:pt x="100012" y="0"/>
                  </a:lnTo>
                  <a:lnTo>
                    <a:pt x="0" y="42862"/>
                  </a:lnTo>
                  <a:lnTo>
                    <a:pt x="0" y="98342"/>
                  </a:lnTo>
                  <a:cubicBezTo>
                    <a:pt x="0" y="135255"/>
                    <a:pt x="17827" y="169896"/>
                    <a:pt x="47864" y="1913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2313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四個最小治理原則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5952" y="2989421"/>
              <a:ext cx="21511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 Think Before Coding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275171"/>
              <a:ext cx="269652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先確認再動手，降低方向性錯誤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3789521"/>
              <a:ext cx="229082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 No Over-engineering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407527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避免過度設計，控制維護成本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952" y="4589621"/>
              <a:ext cx="25701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 Targeted Modifications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5952" y="4875371"/>
              <a:ext cx="269652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只做標靶式修改，保護既有結構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05952" y="5389721"/>
              <a:ext cx="28195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04 Outcome-based Execution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5952" y="5675471"/>
              <a:ext cx="307657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用驗收標準驅動執行，讓輸出可驗證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305550" y="2171700"/>
            <a:ext cx="4267200" cy="3771900"/>
            <a:chOff x="6305550" y="2171700"/>
            <a:chExt cx="4267200" cy="3771900"/>
          </a:xfrm>
        </p:grpSpPr>
        <p:sp>
          <p:nvSpPr>
            <p:cNvPr id="27" name="Rectangle 27"/>
            <p:cNvSpPr/>
            <p:nvPr/>
          </p:nvSpPr>
          <p:spPr>
            <a:xfrm>
              <a:off x="6305550" y="2171700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572250" y="23050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943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可落地的管理要求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92252" y="2989421"/>
              <a:ext cx="38936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把 AI 從自由發揮拉回可檢查、可管理的流程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92252" y="3503771"/>
              <a:ext cx="315258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每一步都能被 review、驗證與回溯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92252" y="4018121"/>
              <a:ext cx="304807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規則先定義，協作品質才有一致性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92252" y="4532471"/>
              <a:ext cx="32380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目標不是放手，而是讓輸出可被管理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93242" y="848678"/>
            <a:ext cx="9741408" cy="2510980"/>
            <a:chOff x="793242" y="848678"/>
            <a:chExt cx="9741408" cy="251098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93242" y="3115818"/>
              <a:ext cx="6385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CLOSING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結語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4986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組織真正要建立的，不只是會用 AI，而是用對 AI。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47900"/>
            <a:ext cx="8953500" cy="2038350"/>
            <a:chOff x="1619250" y="2247900"/>
            <a:chExt cx="8953500" cy="20383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8953500" cy="2038350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8953500" cy="1143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8815" y="2658428"/>
              <a:ext cx="415293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可規模化的 AI 開發流程，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8815" y="311562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不是讓模型無限制參與，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8815" y="3572828"/>
              <a:ext cx="756270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而是先定義能做什麼、不能做什麼、何時算完成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50" y="4629150"/>
            <a:ext cx="4282440" cy="1138238"/>
            <a:chOff x="1619250" y="4629150"/>
            <a:chExt cx="4282440" cy="1138238"/>
          </a:xfrm>
        </p:grpSpPr>
        <p:sp>
          <p:nvSpPr>
            <p:cNvPr id="20" name="Rectangle 20"/>
            <p:cNvSpPr/>
            <p:nvPr/>
          </p:nvSpPr>
          <p:spPr>
            <a:xfrm>
              <a:off x="1619250" y="4629150"/>
              <a:ext cx="4267200" cy="1066800"/>
            </a:xfrm>
            <a:prstGeom prst="roundRect">
              <a:avLst>
                <a:gd name="adj" fmla="val 16071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06905" y="4883468"/>
              <a:ext cx="30676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先定義哪些事情可以做、哪些不能做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6905" y="5188268"/>
              <a:ext cx="30676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先定義做到什麼程度，才算真正完成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6905" y="54930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規則、驗收、邊界建立後，AI 才能變成組織能力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305550" y="4629150"/>
            <a:ext cx="4267200" cy="1066800"/>
            <a:chOff x="6305550" y="4629150"/>
            <a:chExt cx="4267200" cy="1066800"/>
          </a:xfrm>
        </p:grpSpPr>
        <p:sp>
          <p:nvSpPr>
            <p:cNvPr id="25" name="Rectangle 25"/>
            <p:cNvSpPr/>
            <p:nvPr/>
          </p:nvSpPr>
          <p:spPr>
            <a:xfrm>
              <a:off x="6305550" y="4629150"/>
              <a:ext cx="4267200" cy="1066800"/>
            </a:xfrm>
            <a:prstGeom prst="roundRect">
              <a:avLst>
                <a:gd name="adj" fmla="val 16071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4924425"/>
              <a:ext cx="2841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Use AI well, not just often.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1300" y="5248275"/>
              <a:ext cx="33250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Rules turn tools into capability.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