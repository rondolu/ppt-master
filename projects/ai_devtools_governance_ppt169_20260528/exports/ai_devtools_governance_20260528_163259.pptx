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23950"/>
            <a:ext cx="1790700" cy="361950"/>
            <a:chOff x="1619250" y="1123950"/>
            <a:chExt cx="1790700" cy="361950"/>
          </a:xfrm>
        </p:grpSpPr>
        <p:sp>
          <p:nvSpPr>
            <p:cNvPr id="9" name="Rectangle 9"/>
            <p:cNvSpPr/>
            <p:nvPr/>
          </p:nvSpPr>
          <p:spPr>
            <a:xfrm>
              <a:off x="1619250" y="1123950"/>
              <a:ext cx="179070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97727" y="1248728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7815" y="1905952"/>
            <a:ext cx="4299585" cy="1465898"/>
            <a:chOff x="1567815" y="1905952"/>
            <a:chExt cx="4299585" cy="1465898"/>
          </a:xfrm>
        </p:grpSpPr>
        <p:sp>
          <p:nvSpPr>
            <p:cNvPr id="12" name="TextBox 12"/>
            <p:cNvSpPr txBox="1"/>
            <p:nvPr/>
          </p:nvSpPr>
          <p:spPr>
            <a:xfrm>
              <a:off x="1567815" y="1905952"/>
              <a:ext cx="3023285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7815" y="25155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276600"/>
              <a:ext cx="42481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10940"/>
            <a:ext cx="5703827" cy="684848"/>
            <a:chOff x="1596390" y="371094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1094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2146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From model capability to boundaries, process, and acceptance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4629150"/>
            <a:ext cx="3505200" cy="290512"/>
            <a:chOff x="1619250" y="4629150"/>
            <a:chExt cx="3505200" cy="290512"/>
          </a:xfrm>
        </p:grpSpPr>
        <p:sp>
          <p:nvSpPr>
            <p:cNvPr id="19" name="Rectangle 19"/>
            <p:cNvSpPr/>
            <p:nvPr/>
          </p:nvSpPr>
          <p:spPr>
            <a:xfrm>
              <a:off x="16192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922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384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114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306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驗收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19250" y="5105400"/>
            <a:ext cx="5391150" cy="800100"/>
            <a:chOff x="1619250" y="5105400"/>
            <a:chExt cx="5391150" cy="800100"/>
          </a:xfrm>
        </p:grpSpPr>
        <p:sp>
          <p:nvSpPr>
            <p:cNvPr id="26" name="Rectangle 26"/>
            <p:cNvSpPr/>
            <p:nvPr/>
          </p:nvSpPr>
          <p:spPr>
            <a:xfrm>
              <a:off x="1619250" y="5105400"/>
              <a:ext cx="5391150" cy="800100"/>
            </a:xfrm>
            <a:prstGeom prst="roundRect">
              <a:avLst>
                <a:gd name="adj" fmla="val 21429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6905" y="5264468"/>
              <a:ext cx="4237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起點：Karpathy 觀察與 GitHub 萬星提示詞治理實踐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6905" y="553116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00200" y="6096000"/>
            <a:ext cx="8915400" cy="409575"/>
            <a:chOff x="1600200" y="6096000"/>
            <a:chExt cx="8915400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600200" y="61817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2026年 AI 協作治理簡報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9207" y="848678"/>
            <a:ext cx="10025443" cy="2795016"/>
            <a:chOff x="509207" y="848678"/>
            <a:chExt cx="10025443" cy="2795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9207" y="3399854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WHY IT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真正左右效率與品質的，不只是模型能力，而是協作規則是否足夠精確。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209800"/>
            <a:ext cx="5524500" cy="3143250"/>
            <a:chOff x="1619250" y="2209800"/>
            <a:chExt cx="55245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09800"/>
              <a:ext cx="5524500" cy="3143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09800"/>
              <a:ext cx="5524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6910" y="2737485"/>
              <a:ext cx="36411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6910" y="32137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先比較模型夠不夠聰明、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6910" y="36899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卻忽略關鍵其實是規則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6910" y="416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是否清楚。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4762500"/>
              <a:ext cx="247650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51448" y="483822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規則不清，錯誤就會被延後結帳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43750" y="2209800"/>
            <a:ext cx="4051412" cy="3143250"/>
            <a:chOff x="7143750" y="2209800"/>
            <a:chExt cx="4051412" cy="3143250"/>
          </a:xfrm>
        </p:grpSpPr>
        <p:sp>
          <p:nvSpPr>
            <p:cNvPr id="23" name="Rectangle 23"/>
            <p:cNvSpPr/>
            <p:nvPr/>
          </p:nvSpPr>
          <p:spPr>
            <a:xfrm>
              <a:off x="7524750" y="2209800"/>
              <a:ext cx="3048000" cy="3143250"/>
            </a:xfrm>
            <a:prstGeom prst="roundRect">
              <a:avLst>
                <a:gd name="adj" fmla="val 6875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08595" y="2546032"/>
              <a:ext cx="1809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如果沒有規則...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3358" y="30056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AI 會自行補完需求與假設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3310414"/>
              <a:ext cx="3381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問題會被拖到 review 與維護階段才爆出來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36152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表面像加速，實際是在延後付出成本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143750" y="3790950"/>
              <a:ext cx="381000" cy="1"/>
            </a:xfrm>
            <a:prstGeom prst="line">
              <a:avLst/>
            </a:prstGeom>
            <a:noFill/>
            <a:ln w="23812">
              <a:solidFill>
                <a:srgbClr val="00AA64"/>
              </a:solidFill>
              <a:prstDash val="dash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619250" y="5619750"/>
            <a:ext cx="8953500" cy="514350"/>
            <a:chOff x="1619250" y="5619750"/>
            <a:chExt cx="8953500" cy="514350"/>
          </a:xfrm>
        </p:grpSpPr>
        <p:sp>
          <p:nvSpPr>
            <p:cNvPr id="30" name="Rectangle 30"/>
            <p:cNvSpPr/>
            <p:nvPr/>
          </p:nvSpPr>
          <p:spPr>
            <a:xfrm>
              <a:off x="1619250" y="5619750"/>
              <a:ext cx="8953500" cy="5143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26809" y="5758815"/>
              <a:ext cx="53383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這不是工具選型問題，而是人機協作設計問題。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9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69239" y="848678"/>
            <a:ext cx="9765411" cy="2534983"/>
            <a:chOff x="769239" y="848678"/>
            <a:chExt cx="9765411" cy="2534983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69239" y="3139821"/>
              <a:ext cx="6865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RISK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三個失效點不是平行雜訊，而是會沿著同一條治理鏈一路放大。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2247900"/>
            <a:ext cx="3770257" cy="1112044"/>
            <a:chOff x="1619250" y="2247900"/>
            <a:chExt cx="3770257" cy="1112044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790700" y="25146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 w="14288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59920" y="271176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33850" y="25146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85298" y="25793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未確認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2685" y="2513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假設先驗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41258" y="2872264"/>
              <a:ext cx="29482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需求還沒講清楚時，AI 就先補完假設，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1258" y="31008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讓方向偏差從一開始就被寫進輸出。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19250" y="3467100"/>
            <a:ext cx="3404712" cy="1112044"/>
            <a:chOff x="1619250" y="3467100"/>
            <a:chExt cx="3404712" cy="1112044"/>
          </a:xfrm>
        </p:grpSpPr>
        <p:sp>
          <p:nvSpPr>
            <p:cNvPr id="24" name="Rectangle 24"/>
            <p:cNvSpPr/>
            <p:nvPr/>
          </p:nvSpPr>
          <p:spPr>
            <a:xfrm>
              <a:off x="1619250" y="34671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34671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90700" y="37338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 w="14288">
              <a:solidFill>
                <a:srgbClr val="00905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36292" y="3930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33850" y="37338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45305" y="37985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堆疊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2685" y="37328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過度設計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41258" y="40914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小任務卻先長出抽象層與新架構，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1258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把維護成本提前灌進團隊流程。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4686300"/>
            <a:ext cx="3549230" cy="1112044"/>
            <a:chOff x="1619250" y="4686300"/>
            <a:chExt cx="3549230" cy="1112044"/>
          </a:xfrm>
        </p:grpSpPr>
        <p:sp>
          <p:nvSpPr>
            <p:cNvPr id="34" name="Rectangle 34"/>
            <p:cNvSpPr/>
            <p:nvPr/>
          </p:nvSpPr>
          <p:spPr>
            <a:xfrm>
              <a:off x="1619250" y="46863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19250" y="46863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90700" y="49530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 w="14288">
              <a:solidFill>
                <a:srgbClr val="3BBB8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36292" y="5150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33850" y="49530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5305" y="50177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擴散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2685" y="4952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附帶修改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1258" y="53106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本來只修局部，最後卻把無關區塊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41258" y="5539264"/>
              <a:ext cx="27272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一併改掉，讓 review 焦點被稀釋。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72050" y="2781300"/>
            <a:ext cx="2266950" cy="2438400"/>
            <a:chOff x="4972050" y="2781300"/>
            <a:chExt cx="2266950" cy="2438400"/>
          </a:xfrm>
        </p:grpSpPr>
        <p:sp>
          <p:nvSpPr>
            <p:cNvPr id="44" name="Freeform 44"/>
            <p:cNvSpPr/>
            <p:nvPr/>
          </p:nvSpPr>
          <p:spPr>
            <a:xfrm>
              <a:off x="4972050" y="27813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0"/>
                  </a:moveTo>
                  <a:lnTo>
                    <a:pt x="361950" y="0"/>
                  </a:lnTo>
                  <a:lnTo>
                    <a:pt x="361950" y="1219200"/>
                  </a:lnTo>
                  <a:lnTo>
                    <a:pt x="600075" y="1219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5" name="Freeform 45"/>
            <p:cNvSpPr/>
            <p:nvPr/>
          </p:nvSpPr>
          <p:spPr>
            <a:xfrm>
              <a:off x="4972050" y="40005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972050" y="40005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1219200"/>
                  </a:moveTo>
                  <a:lnTo>
                    <a:pt x="361950" y="1219200"/>
                  </a:lnTo>
                  <a:lnTo>
                    <a:pt x="361950" y="0"/>
                  </a:lnTo>
                  <a:lnTo>
                    <a:pt x="600075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6810375" y="4000500"/>
              <a:ext cx="428625" cy="1"/>
            </a:xfrm>
            <a:prstGeom prst="line">
              <a:avLst/>
            </a:pr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72125" y="3657600"/>
              <a:ext cx="1238250" cy="685800"/>
            </a:xfrm>
            <a:prstGeom prst="roundRect">
              <a:avLst>
                <a:gd name="adj" fmla="val 22222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39790" y="3789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共通效應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08237" y="3965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治理失焦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239000" y="2362200"/>
            <a:ext cx="4027551" cy="3390900"/>
            <a:chOff x="7239000" y="2362200"/>
            <a:chExt cx="4027551" cy="3390900"/>
          </a:xfrm>
        </p:grpSpPr>
        <p:sp>
          <p:nvSpPr>
            <p:cNvPr id="52" name="Rectangle 52"/>
            <p:cNvSpPr/>
            <p:nvPr/>
          </p:nvSpPr>
          <p:spPr>
            <a:xfrm>
              <a:off x="7239000" y="2362200"/>
              <a:ext cx="3333750" cy="3390900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39000" y="2362200"/>
              <a:ext cx="3333750" cy="666750"/>
            </a:xfrm>
            <a:prstGeom prst="roundRect">
              <a:avLst>
                <a:gd name="adj" fmla="val 31429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524750" y="2552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01940" y="25584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共同後果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486650" y="32194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08175" y="33427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41945" y="3155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方向偏差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47660" y="3451860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AI 從第一步就走歪，後續修正都在補救。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486650" y="396240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08175" y="408574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41945" y="3898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維護膨脹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47660" y="41948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多餘架構和擴散修改一起累積技術負債。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486650" y="47053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08175" y="48286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41945" y="4641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審查變慢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47660" y="4937760"/>
              <a:ext cx="3318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review 被迫先清噪音，再找真正重要的差異。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486650" y="5295900"/>
              <a:ext cx="2838450" cy="2857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95865" y="53730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三者疊加後，成本不是相加，而是連鎖放大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604010" y="6061710"/>
            <a:ext cx="6319266" cy="243840"/>
            <a:chOff x="1604010" y="6061710"/>
            <a:chExt cx="6319266" cy="243840"/>
          </a:xfrm>
        </p:grpSpPr>
        <p:sp>
          <p:nvSpPr>
            <p:cNvPr id="71" name="TextBox 71"/>
            <p:cNvSpPr txBox="1"/>
            <p:nvPr/>
          </p:nvSpPr>
          <p:spPr>
            <a:xfrm>
              <a:off x="1604010" y="6061710"/>
              <a:ext cx="6319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先偏方向，再放大維護，最後把 review 變成噪音清理，這就是 AI 協作最常見的失焦鏈。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3" grpId="0"/>
      <p:bldP spid="51" grpId="0"/>
      <p:bldP spid="70" grpId="0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33235" y="848678"/>
            <a:ext cx="9801415" cy="2570988"/>
            <a:chOff x="733235" y="848678"/>
            <a:chExt cx="9801415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COST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這件事的成本，會同時落在工程執行端與管理判斷端。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628900" y="2324100"/>
            <a:ext cx="7429500" cy="3314700"/>
            <a:chOff x="2628900" y="2324100"/>
            <a:chExt cx="7429500" cy="3314700"/>
          </a:xfrm>
        </p:grpSpPr>
        <p:sp>
          <p:nvSpPr>
            <p:cNvPr id="14" name="Ellipse 14"/>
            <p:cNvSpPr/>
            <p:nvPr/>
          </p:nvSpPr>
          <p:spPr>
            <a:xfrm>
              <a:off x="2628900" y="2324100"/>
              <a:ext cx="3924300" cy="3314700"/>
            </a:xfrm>
            <a:prstGeom prst="ellipse">
              <a:avLst/>
            </a:prstGeom>
            <a:solidFill>
              <a:srgbClr val="3BBB8E">
                <a:alpha val="22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134100" y="2324100"/>
              <a:ext cx="3924300" cy="3314700"/>
            </a:xfrm>
            <a:prstGeom prst="ellipse">
              <a:avLst/>
            </a:prstGeom>
            <a:solidFill>
              <a:srgbClr val="9AE992">
                <a:alpha val="28000"/>
              </a:srgb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5353050" y="3981450"/>
              <a:ext cx="419100" cy="1"/>
            </a:xfrm>
            <a:prstGeom prst="line">
              <a:avLst/>
            </a:pr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6915150" y="3981450"/>
              <a:ext cx="419100" cy="1"/>
            </a:xfrm>
            <a:prstGeom prst="line">
              <a:avLst/>
            </a:pr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72150" y="2628900"/>
              <a:ext cx="1143000" cy="2705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9325" y="35552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共同壓力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0036" y="3852862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0036" y="4214812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成本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27058" y="2667000"/>
            <a:ext cx="2872930" cy="1454944"/>
            <a:chOff x="3127058" y="2667000"/>
            <a:chExt cx="2872930" cy="1454944"/>
          </a:xfrm>
        </p:grpSpPr>
        <p:sp>
          <p:nvSpPr>
            <p:cNvPr id="23" name="Ellipse 23"/>
            <p:cNvSpPr/>
            <p:nvPr/>
          </p:nvSpPr>
          <p:spPr>
            <a:xfrm>
              <a:off x="3219450" y="2667000"/>
              <a:ext cx="457200" cy="4572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314700" y="2778919"/>
              <a:ext cx="266700" cy="233362"/>
              <a:chOff x="3314700" y="2778919"/>
              <a:chExt cx="266700" cy="2333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364706" y="277891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314700" y="289560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481388" y="289560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481388" y="2795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766185" y="2761298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工程端的直接影響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27058" y="3291364"/>
              <a:ext cx="21236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花時間把 AI 拉回正確方向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7058" y="3577114"/>
              <a:ext cx="26507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review 先清噪音，再找真正重點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27058" y="3862864"/>
              <a:ext cx="22171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重工、補丁與維護同步膨脹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27508" y="2667000"/>
            <a:ext cx="3058763" cy="1454944"/>
            <a:chOff x="6727508" y="2667000"/>
            <a:chExt cx="3058763" cy="1454944"/>
          </a:xfrm>
        </p:grpSpPr>
        <p:sp>
          <p:nvSpPr>
            <p:cNvPr id="34" name="Ellipse 34"/>
            <p:cNvSpPr/>
            <p:nvPr/>
          </p:nvSpPr>
          <p:spPr>
            <a:xfrm>
              <a:off x="8934450" y="2667000"/>
              <a:ext cx="457200" cy="4572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029700" y="2778919"/>
              <a:ext cx="266700" cy="233363"/>
              <a:chOff x="9029700" y="2778919"/>
              <a:chExt cx="266700" cy="23336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229725" y="2778919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66675" y="233362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129712" y="2845594"/>
                <a:ext cx="666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66688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029700" y="2912269"/>
                <a:ext cx="666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2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37985" y="2761298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管理端看到的訊號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27508" y="3291364"/>
              <a:ext cx="30587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問題不是單一 bug，而是流程治理缺口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27508" y="357711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錯誤會沿協作鏈反覆擴散與放大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27508" y="386286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工具越普及，規則越要前置設計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44" name="Rectangle 44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51660" y="6023610"/>
              <a:ext cx="6271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真正昂貴的不是偶發錯誤，而是當錯誤沒有治理時，它會一路佔用工程與管理的注意力。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4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1206" y="848678"/>
            <a:ext cx="10033444" cy="2803016"/>
            <a:chOff x="501206" y="848678"/>
            <a:chExt cx="10033444" cy="2803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1206" y="3407854"/>
              <a:ext cx="1222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SOLUTION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社群給出的解法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核心做法很直接：先把高價值協作規則寫進提示詞與工作流程。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2133600"/>
            <a:ext cx="8858250" cy="723900"/>
            <a:chOff x="1619250" y="2133600"/>
            <a:chExt cx="8858250" cy="7239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33600"/>
              <a:ext cx="8858250" cy="723900"/>
            </a:xfrm>
            <a:prstGeom prst="roundRect">
              <a:avLst>
                <a:gd name="adj" fmla="val 26316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18335" y="2351722"/>
              <a:ext cx="61791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先用規則穩住 AI 行為，再談模型升級與流程擴張。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47850" y="3276600"/>
            <a:ext cx="8401050" cy="895350"/>
            <a:chOff x="1847850" y="3276600"/>
            <a:chExt cx="8401050" cy="895350"/>
          </a:xfrm>
        </p:grpSpPr>
        <p:sp>
          <p:nvSpPr>
            <p:cNvPr id="17" name="Line 17"/>
            <p:cNvSpPr/>
            <p:nvPr/>
          </p:nvSpPr>
          <p:spPr>
            <a:xfrm>
              <a:off x="1847850" y="371475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38100">
              <a:solidFill>
                <a:srgbClr val="D9D9D9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514600" y="3276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4648200" y="37147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6781800" y="3276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8915400" y="37147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2" name="Ellipse 22"/>
            <p:cNvSpPr/>
            <p:nvPr/>
          </p:nvSpPr>
          <p:spPr>
            <a:xfrm>
              <a:off x="24384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5720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7056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8392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619250" y="2038350"/>
            <a:ext cx="1844040" cy="1200150"/>
            <a:chOff x="1619250" y="2038350"/>
            <a:chExt cx="1844040" cy="1200150"/>
          </a:xfrm>
        </p:grpSpPr>
        <p:sp>
          <p:nvSpPr>
            <p:cNvPr id="27" name="Rectangle 27"/>
            <p:cNvSpPr/>
            <p:nvPr/>
          </p:nvSpPr>
          <p:spPr>
            <a:xfrm>
              <a:off x="1619250" y="20383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36420" y="21888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24990" y="2415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寫清邊界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32610" y="27470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把能做與不能做，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32610" y="2956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直接寫進系統提示詞。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28800" y="29718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99107" y="302704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降低自由發揮空間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52850" y="4171950"/>
            <a:ext cx="1790700" cy="1200150"/>
            <a:chOff x="3752850" y="4171950"/>
            <a:chExt cx="1790700" cy="1200150"/>
          </a:xfrm>
        </p:grpSpPr>
        <p:sp>
          <p:nvSpPr>
            <p:cNvPr id="35" name="Rectangle 35"/>
            <p:cNvSpPr/>
            <p:nvPr/>
          </p:nvSpPr>
          <p:spPr>
            <a:xfrm>
              <a:off x="3752850" y="41719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70020" y="43224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58590" y="4549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設停損點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66210" y="48806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需求不清先提問，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66210" y="50901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不准直接猜完再做。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962400" y="51054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95715" y="51606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把偏差攔在前段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886450" y="2038350"/>
            <a:ext cx="1790700" cy="1200150"/>
            <a:chOff x="5886450" y="2038350"/>
            <a:chExt cx="1790700" cy="1200150"/>
          </a:xfrm>
        </p:grpSpPr>
        <p:sp>
          <p:nvSpPr>
            <p:cNvPr id="43" name="Rectangle 43"/>
            <p:cNvSpPr/>
            <p:nvPr/>
          </p:nvSpPr>
          <p:spPr>
            <a:xfrm>
              <a:off x="5886450" y="20383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03620" y="21888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92190" y="2415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綁定驗收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99810" y="27470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把測試、檢查與完成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99810" y="29565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定義一起寫進流程。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0" y="29718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29315" y="30270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讓輸出可被驗證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020050" y="4171950"/>
            <a:ext cx="1790700" cy="1200150"/>
            <a:chOff x="8020050" y="4171950"/>
            <a:chExt cx="1790700" cy="1200150"/>
          </a:xfrm>
        </p:grpSpPr>
        <p:sp>
          <p:nvSpPr>
            <p:cNvPr id="51" name="Rectangle 51"/>
            <p:cNvSpPr/>
            <p:nvPr/>
          </p:nvSpPr>
          <p:spPr>
            <a:xfrm>
              <a:off x="8020050" y="41719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37220" y="43224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5790" y="4549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逐步擴大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33410" y="48806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先穩定高價值任務，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33410" y="50901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再向更多場景擴張。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29600" y="5105400"/>
              <a:ext cx="1371600" cy="22860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62915" y="51606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低成本、可持續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19250" y="5886450"/>
            <a:ext cx="8858250" cy="400050"/>
            <a:chOff x="1619250" y="5886450"/>
            <a:chExt cx="8858250" cy="400050"/>
          </a:xfrm>
        </p:grpSpPr>
        <p:sp>
          <p:nvSpPr>
            <p:cNvPr id="59" name="Rectangle 59"/>
            <p:cNvSpPr/>
            <p:nvPr/>
          </p:nvSpPr>
          <p:spPr>
            <a:xfrm>
              <a:off x="1619250" y="5886450"/>
              <a:ext cx="885825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51660" y="6004560"/>
              <a:ext cx="70713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這類方案之所以快速累積關注，是因為它不要求先升級模型或重建基礎設施，而是先穩住輸出行為。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42" grpId="0"/>
      <p:bldP spid="50" grpId="0"/>
      <p:bldP spid="58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69214" y="848678"/>
            <a:ext cx="9965436" cy="2735008"/>
            <a:chOff x="569214" y="848678"/>
            <a:chExt cx="9965436" cy="273500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69214" y="3339846"/>
              <a:ext cx="1086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PRINCIPLE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四個原則不是口號，而是可以直接映射成團隊管理要求。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2105" y="1981200"/>
            <a:ext cx="6881955" cy="319088"/>
            <a:chOff x="1602105" y="1981200"/>
            <a:chExt cx="6881955" cy="319088"/>
          </a:xfrm>
        </p:grpSpPr>
        <p:sp>
          <p:nvSpPr>
            <p:cNvPr id="14" name="TextBox 14"/>
            <p:cNvSpPr txBox="1"/>
            <p:nvPr/>
          </p:nvSpPr>
          <p:spPr>
            <a:xfrm>
              <a:off x="1602105" y="20259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四個最小治理原則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486400" y="19812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32538" y="20650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治理映射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26605" y="20259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對應的管理要求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19250" y="2343150"/>
            <a:ext cx="8953500" cy="685800"/>
            <a:chOff x="1619250" y="2343150"/>
            <a:chExt cx="8953500" cy="685800"/>
          </a:xfrm>
        </p:grpSpPr>
        <p:sp>
          <p:nvSpPr>
            <p:cNvPr id="19" name="Rectangle 19"/>
            <p:cNvSpPr/>
            <p:nvPr/>
          </p:nvSpPr>
          <p:spPr>
            <a:xfrm>
              <a:off x="1619250" y="23431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771650" y="24955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91748" y="2637949"/>
              <a:ext cx="140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49805" y="2464118"/>
              <a:ext cx="1820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Think Before Coding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2662" y="27074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需求未清楚前先確認，避免方向性錯誤。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048250" y="2686050"/>
              <a:ext cx="2095500" cy="1"/>
            </a:xfrm>
            <a:prstGeom prst="line">
              <a:avLst/>
            </a:pr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25" name="Ellipse 25"/>
            <p:cNvSpPr/>
            <p:nvPr/>
          </p:nvSpPr>
          <p:spPr>
            <a:xfrm>
              <a:off x="6038850" y="2628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3750" y="23431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93305" y="24641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模糊需求先澄清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96162" y="27074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沒有明確問題定義，就不進入執行。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19250" y="3181350"/>
            <a:ext cx="8953500" cy="685800"/>
            <a:chOff x="1619250" y="3181350"/>
            <a:chExt cx="8953500" cy="685800"/>
          </a:xfrm>
        </p:grpSpPr>
        <p:sp>
          <p:nvSpPr>
            <p:cNvPr id="30" name="Rectangle 30"/>
            <p:cNvSpPr/>
            <p:nvPr/>
          </p:nvSpPr>
          <p:spPr>
            <a:xfrm>
              <a:off x="1619250" y="31813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771650" y="33337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74683" y="34761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49805" y="3302318"/>
              <a:ext cx="1905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No Over-engineering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52662" y="354568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只做當下需要的解法，不為假想未來堆架構。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048250" y="3524250"/>
              <a:ext cx="2095500" cy="1"/>
            </a:xfrm>
            <a:prstGeom prst="line">
              <a:avLst/>
            </a:pr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36" name="Ellipse 36"/>
            <p:cNvSpPr/>
            <p:nvPr/>
          </p:nvSpPr>
          <p:spPr>
            <a:xfrm>
              <a:off x="6038850" y="34671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43750" y="31813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3305" y="33023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禁止預先堆架構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96162" y="35456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先控制維護成本，再考慮額外彈性。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19250" y="4019550"/>
            <a:ext cx="8953500" cy="685800"/>
            <a:chOff x="1619250" y="4019550"/>
            <a:chExt cx="8953500" cy="685800"/>
          </a:xfrm>
        </p:grpSpPr>
        <p:sp>
          <p:nvSpPr>
            <p:cNvPr id="41" name="Rectangle 41"/>
            <p:cNvSpPr/>
            <p:nvPr/>
          </p:nvSpPr>
          <p:spPr>
            <a:xfrm>
              <a:off x="1619250" y="40195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771650" y="41719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874683" y="4314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49805" y="4140518"/>
              <a:ext cx="2170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Targeted Modifications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52662" y="4383881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只改與任務直接相關的程式碼，避免修一帶十。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048250" y="4362450"/>
              <a:ext cx="2095500" cy="1"/>
            </a:xfrm>
            <a:prstGeom prst="line">
              <a:avLst/>
            </a:pr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47" name="Ellipse 47"/>
            <p:cNvSpPr/>
            <p:nvPr/>
          </p:nvSpPr>
          <p:spPr>
            <a:xfrm>
              <a:off x="6038850" y="4305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43750" y="40195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93305" y="414051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禁止順手擴散修改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96162" y="4383881"/>
              <a:ext cx="28564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保護 review 焦點，讓差異可被明確判讀。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19250" y="4857750"/>
            <a:ext cx="8953500" cy="685800"/>
            <a:chOff x="1619250" y="4857750"/>
            <a:chExt cx="8953500" cy="685800"/>
          </a:xfrm>
        </p:grpSpPr>
        <p:sp>
          <p:nvSpPr>
            <p:cNvPr id="52" name="Rectangle 52"/>
            <p:cNvSpPr/>
            <p:nvPr/>
          </p:nvSpPr>
          <p:spPr>
            <a:xfrm>
              <a:off x="1619250" y="48577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771650" y="5010150"/>
              <a:ext cx="381000" cy="3810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874683" y="5152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49805" y="4978718"/>
              <a:ext cx="2406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Outcome-based Execution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252662" y="522208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用可驗證結果驅動交付，而不是只看產出量。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5048250" y="5200650"/>
              <a:ext cx="2095500" cy="1"/>
            </a:xfrm>
            <a:prstGeom prst="line">
              <a:avLst/>
            </a:pr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58" name="Ellipse 58"/>
            <p:cNvSpPr/>
            <p:nvPr/>
          </p:nvSpPr>
          <p:spPr>
            <a:xfrm>
              <a:off x="6038850" y="51435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43750" y="48577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93305" y="49787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優先要求可驗證成果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96162" y="52220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測試、檢查與完成定義要先於自由發揮。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63" name="Rectangle 63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851660" y="6023610"/>
              <a:ext cx="5743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當原則被寫進提示詞、要求被寫進 review，AI 才會從自由發揮轉成可治理流程。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0" grpId="0"/>
      <p:bldP spid="51" grpId="0"/>
      <p:bldP spid="62" grpId="0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真正可規模化的能力，來自清楚規則、可驗證結果，以及共同的修改紀律。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1924050"/>
            <a:chOff x="1619250" y="2247900"/>
            <a:chExt cx="8953500" cy="1924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1924050"/>
            </a:xfrm>
            <a:prstGeom prst="roundRect">
              <a:avLst>
                <a:gd name="adj" fmla="val 1089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3937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09657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不是建立在更強的自動化幻覺上，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53778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而是建立在更明確的規則、驗證與邊界上。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495800"/>
            <a:ext cx="2914269" cy="1047750"/>
            <a:chOff x="1619250" y="4495800"/>
            <a:chExt cx="2914269" cy="1047750"/>
          </a:xfrm>
        </p:grpSpPr>
        <p:sp>
          <p:nvSpPr>
            <p:cNvPr id="20" name="Rectangle 20"/>
            <p:cNvSpPr/>
            <p:nvPr/>
          </p:nvSpPr>
          <p:spPr>
            <a:xfrm>
              <a:off x="16192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74520" y="466534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RULES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92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0710" y="5261610"/>
              <a:ext cx="2662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先講清楚 AI 能做什麼、不能做什麼。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43450" y="4495800"/>
            <a:ext cx="3002280" cy="1047750"/>
            <a:chOff x="4743450" y="4495800"/>
            <a:chExt cx="3002280" cy="1047750"/>
          </a:xfrm>
        </p:grpSpPr>
        <p:sp>
          <p:nvSpPr>
            <p:cNvPr id="25" name="Rectangle 25"/>
            <p:cNvSpPr/>
            <p:nvPr/>
          </p:nvSpPr>
          <p:spPr>
            <a:xfrm>
              <a:off x="47434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98720" y="4665345"/>
              <a:ext cx="785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34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驗證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4910" y="52616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先定義如何檢查，才知道何時算完成。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67650" y="4495800"/>
            <a:ext cx="3026283" cy="1047750"/>
            <a:chOff x="7867650" y="4495800"/>
            <a:chExt cx="3026283" cy="1047750"/>
          </a:xfrm>
        </p:grpSpPr>
        <p:sp>
          <p:nvSpPr>
            <p:cNvPr id="30" name="Rectangle 30"/>
            <p:cNvSpPr/>
            <p:nvPr/>
          </p:nvSpPr>
          <p:spPr>
            <a:xfrm>
              <a:off x="78676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22920" y="4665345"/>
              <a:ext cx="7096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BOUNDARIES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76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9110" y="526161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先守住修改範圍，AI 才能被持續管理。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00200" y="6019800"/>
            <a:ext cx="8915400" cy="409575"/>
            <a:chOff x="1600200" y="6019800"/>
            <a:chExt cx="8915400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600200" y="6029325"/>
              <a:ext cx="6191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Use AI well, not just often. Rules turn tools into capability.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198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