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今天這份簡報的核心觀點很直接，AI 參與程式開發之後，真正決定效率與品質的，不只是模型能力，而是協作邊界設計得夠不夠精確。這裡我們不是從理論出發，而是從 GitHub 上高關注的提示詞治理實踐切入，觀察哪些規則能把 AI 從不穩定的執行者，變成可管理的協作模組。</a:t>
            </a:r>
          </a:p>
          <a:p>
            <a:endParaRPr lang="zh-CN" dirty="0"/>
          </a:p>
          <a:p>
            <a:r>
              <a:rPr lang="zh-CN" dirty="0"/>
              <a:t>接下來七頁，我會先說明為什麼這件事值得關注，再拆解常見失效點，最後收斂到一組可執行的治理原則。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最重要的一句話是，當 AI 開始參與程式開發，真正決定效率與品質的，是協作規則是否足夠精確。換句話說，影響產出穩定性的關鍵，不在於模型會不會寫程式，而在於團隊有沒有事先定義清楚什麼時候要停下來確認、什麼不能順手改、以及什麼叫做完成。</a:t>
            </a:r>
          </a:p>
          <a:p>
            <a:endParaRPr lang="zh-CN" dirty="0"/>
          </a:p>
          <a:p>
            <a:r>
              <a:rPr lang="zh-CN" dirty="0"/>
              <a:t>如果沒有這些規則，AI 看起來像在加速，實際上是在把錯誤成本延後到 review 與維護階段才爆出來。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從實務觀察來看，最常見的失效點可以濃縮成三類，而且它們通常不是分開出現。第一類是需求還不清楚時就直接選路徑執行，方向一開始就偏掉。第二類是為了簡單任務提前堆疊過多架構，讓系統還沒變複雜，維護成本先變複雜。第三類是局部修復時連帶改動無關區塊，讓 review 的焦點被噪音沖散。</a:t>
            </a:r>
          </a:p>
          <a:p>
            <a:endParaRPr lang="zh-CN" dirty="0"/>
          </a:p>
          <a:p>
            <a:r>
              <a:rPr lang="zh-CN" dirty="0"/>
              <a:t>三者合在一起，最後會把團隊拖向方向偏差、維護膨脹與審查變慢。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這件事的成本其實同時落在工程端與管理端。對工程團隊來說，最直接的感受是要花時間把 AI 拉回正確方向，程式碼量變大，review 時也更難抓到真正重要的差異。對決策層來說，這代表問題不是單一 bug，而是使用 AI 的流程治理還沒有建立起來。</a:t>
            </a:r>
          </a:p>
          <a:p>
            <a:endParaRPr lang="zh-CN" dirty="0"/>
          </a:p>
          <a:p>
            <a:r>
              <a:rPr lang="zh-CN" dirty="0"/>
              <a:t>也就是說，工具越普及，治理成本就越不能放到最後才補，而是要前置到協作規則的設計裡。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社群目前給出的解法並不昂貴，但很有效，就是把邊界、停損點與驗收方式直接寫進系統提示詞與工作流程裡。這類做法之所以快速累積關注，是因為它不要求團隊先改模型，也不要求先建構新的大型基礎設施，而是先用規則把 AI 的輸出穩定下來。</a:t>
            </a:r>
          </a:p>
          <a:p>
            <a:endParaRPr lang="zh-CN" dirty="0"/>
          </a:p>
          <a:p>
            <a:r>
              <a:rPr lang="zh-CN" dirty="0"/>
              <a:t>從治理角度看，這一步很重要，因為它把 AI 從一個不可預測的助手，轉成一個行為邊界清楚的協作角色。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如果要把這些想法落成團隊規則，可以整理成四個約束原則。第一，需求未清楚前先確認，也就是 think before coding。第二，只做當下需要的解法，不為假想未來過度設計。第三，只改與任務直接相關的程式碼，不讓局部修復擴散成無關重構。第四，用可驗證的結果驅動執行，例如先補測試、再修正行為。</a:t>
            </a:r>
          </a:p>
          <a:p>
            <a:endParaRPr lang="zh-CN" dirty="0"/>
          </a:p>
          <a:p>
            <a:r>
              <a:rPr lang="zh-CN" dirty="0"/>
              <a:t>管理上對應的要求就很清楚了，模糊需求先澄清、禁止預先堆疊架構、禁止順手修改無關區塊，並且優先要求可驗證成果。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最後想留下的結論是，真正可規模化的 AI 開發能力，不是建立在更強的自動化幻覺上，而是建立在更明確的規則、更可驗證的結果，以及對修改邊界的共同紀律上。當團隊把這三件事講清楚，AI 才會從偶爾有效，變成可以持續複製的生產力系統。</a:t>
            </a:r>
          </a:p>
          <a:p>
            <a:endParaRPr lang="zh-CN" dirty="0"/>
          </a:p>
          <a:p>
            <a:r>
              <a:rPr lang="zh-CN" dirty="0"/>
              <a:t>這也是 AI 輔助開發治理真正要處理的問題。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image" Target="../media/image_ad5a868f5f8e623f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image" Target="../media/image_ad5a868f5f8e623f.png"/>
  <Relationship Id="rId4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2038350" y="-495300"/>
            <a:ext cx="14230350" cy="7353300"/>
            <a:chOff x="-2038350" y="-495300"/>
            <a:chExt cx="14230350" cy="7353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0668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428750" y="-495300"/>
              <a:ext cx="2705100" cy="27051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361950"/>
              <a:ext cx="3352800" cy="33528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2038350" y="1733550"/>
              <a:ext cx="3733800" cy="37338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619250" y="1123950"/>
            <a:ext cx="1790700" cy="361950"/>
            <a:chOff x="1619250" y="1123950"/>
            <a:chExt cx="1790700" cy="361950"/>
          </a:xfrm>
        </p:grpSpPr>
        <p:sp>
          <p:nvSpPr>
            <p:cNvPr id="9" name="Rectangle 9"/>
            <p:cNvSpPr/>
            <p:nvPr/>
          </p:nvSpPr>
          <p:spPr>
            <a:xfrm>
              <a:off x="1619250" y="1123950"/>
              <a:ext cx="1790700" cy="3619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97727" y="1248728"/>
              <a:ext cx="1033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GOVERNANCE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67815" y="1905952"/>
            <a:ext cx="4299585" cy="1465898"/>
            <a:chOff x="1567815" y="1905952"/>
            <a:chExt cx="4299585" cy="1465898"/>
          </a:xfrm>
        </p:grpSpPr>
        <p:sp>
          <p:nvSpPr>
            <p:cNvPr id="12" name="TextBox 12"/>
            <p:cNvSpPr txBox="1"/>
            <p:nvPr/>
          </p:nvSpPr>
          <p:spPr>
            <a:xfrm>
              <a:off x="1567815" y="1905952"/>
              <a:ext cx="3023285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AI 輔助開發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7815" y="2515552"/>
              <a:ext cx="1237012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治理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19250" y="3276600"/>
              <a:ext cx="4248150" cy="952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596390" y="3710940"/>
            <a:ext cx="5703827" cy="684848"/>
            <a:chOff x="1596390" y="3710940"/>
            <a:chExt cx="5703827" cy="684848"/>
          </a:xfrm>
        </p:grpSpPr>
        <p:sp>
          <p:nvSpPr>
            <p:cNvPr id="16" name="TextBox 16"/>
            <p:cNvSpPr txBox="1"/>
            <p:nvPr/>
          </p:nvSpPr>
          <p:spPr>
            <a:xfrm>
              <a:off x="1596390" y="3710940"/>
              <a:ext cx="57038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當 AI 進入開發流程後，如何建立可治理的協作方式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2105" y="4121468"/>
              <a:ext cx="55069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From model capability to boundaries, process, and acceptance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19250" y="4629150"/>
            <a:ext cx="3505200" cy="290512"/>
            <a:chOff x="1619250" y="4629150"/>
            <a:chExt cx="3505200" cy="290512"/>
          </a:xfrm>
        </p:grpSpPr>
        <p:sp>
          <p:nvSpPr>
            <p:cNvPr id="19" name="Rectangle 19"/>
            <p:cNvSpPr/>
            <p:nvPr/>
          </p:nvSpPr>
          <p:spPr>
            <a:xfrm>
              <a:off x="1619250" y="4629150"/>
              <a:ext cx="1066800" cy="285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92297" y="47063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邊界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838450" y="4629150"/>
              <a:ext cx="1066800" cy="285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11497" y="47063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流程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4629150"/>
              <a:ext cx="1066800" cy="285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30697" y="47063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驗收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19250" y="5105400"/>
            <a:ext cx="5391150" cy="800100"/>
            <a:chOff x="1619250" y="5105400"/>
            <a:chExt cx="5391150" cy="800100"/>
          </a:xfrm>
        </p:grpSpPr>
        <p:sp>
          <p:nvSpPr>
            <p:cNvPr id="26" name="Rectangle 26"/>
            <p:cNvSpPr/>
            <p:nvPr/>
          </p:nvSpPr>
          <p:spPr>
            <a:xfrm>
              <a:off x="1619250" y="5105400"/>
              <a:ext cx="5391150" cy="800100"/>
            </a:xfrm>
            <a:prstGeom prst="roundRect">
              <a:avLst>
                <a:gd name="adj" fmla="val 21429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06905" y="5264468"/>
              <a:ext cx="42378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起點：Karpathy 觀察與 GitHub 萬星提示詞治理實踐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06905" y="5531168"/>
              <a:ext cx="42558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核心：先定義邊界、流程與驗收標準，再擴大 AI 協作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00200" y="6096000"/>
            <a:ext cx="8915400" cy="409575"/>
            <a:chOff x="1600200" y="6096000"/>
            <a:chExt cx="8915400" cy="409575"/>
          </a:xfrm>
        </p:grpSpPr>
        <p:sp>
          <p:nvSpPr>
            <p:cNvPr id="30" name="TextBox 30"/>
            <p:cNvSpPr txBox="1"/>
            <p:nvPr/>
          </p:nvSpPr>
          <p:spPr>
            <a:xfrm>
              <a:off x="1600200" y="6181725"/>
              <a:ext cx="21683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2026年 AI 協作治理簡報</a:t>
              </a:r>
            </a:p>
          </p:txBody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8250" y="6096000"/>
              <a:ext cx="1657350" cy="4095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8" grpId="0"/>
      <p:bldP spid="25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09207" y="848678"/>
            <a:ext cx="10025443" cy="2795016"/>
            <a:chOff x="509207" y="848678"/>
            <a:chExt cx="10025443" cy="2795016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509207" y="3399854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WHY IT MATTERS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為什麼值得關注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438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真正左右效率與品質的，不只是模型能力，而是協作規則是否足夠精確。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9250" y="2209800"/>
            <a:ext cx="5524500" cy="3143250"/>
            <a:chOff x="1619250" y="2209800"/>
            <a:chExt cx="5524500" cy="31432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09800"/>
              <a:ext cx="5524500" cy="3143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09800"/>
              <a:ext cx="5524500" cy="1143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6910" y="2737485"/>
              <a:ext cx="364112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很多團隊導入 AI 後，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6910" y="3213735"/>
              <a:ext cx="42271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先比較模型夠不夠聰明、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6910" y="3689985"/>
              <a:ext cx="38490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卻忽略關鍵其實是規則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46910" y="41662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是否清楚。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981200" y="4762500"/>
              <a:ext cx="247650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51448" y="4838224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規則不清，錯誤就會被延後結帳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43750" y="2209800"/>
            <a:ext cx="4051412" cy="3143250"/>
            <a:chOff x="7143750" y="2209800"/>
            <a:chExt cx="4051412" cy="3143250"/>
          </a:xfrm>
        </p:grpSpPr>
        <p:sp>
          <p:nvSpPr>
            <p:cNvPr id="23" name="Rectangle 23"/>
            <p:cNvSpPr/>
            <p:nvPr/>
          </p:nvSpPr>
          <p:spPr>
            <a:xfrm>
              <a:off x="7524750" y="2209800"/>
              <a:ext cx="3048000" cy="3143250"/>
            </a:xfrm>
            <a:prstGeom prst="roundRect">
              <a:avLst>
                <a:gd name="adj" fmla="val 6875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08595" y="2546032"/>
              <a:ext cx="18092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如果沒有規則...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13358" y="300561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AI 會自行補完需求與假設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13358" y="3310414"/>
              <a:ext cx="3381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問題會被拖到 review 與維護階段才爆出來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13358" y="3615214"/>
              <a:ext cx="28972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表面像加速，實際是在延後付出成本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143750" y="3790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29" name="Ellipse 29"/>
            <p:cNvSpPr/>
            <p:nvPr/>
          </p:nvSpPr>
          <p:spPr>
            <a:xfrm>
              <a:off x="7467600" y="37338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619250" y="5619750"/>
            <a:ext cx="8953500" cy="514350"/>
            <a:chOff x="1619250" y="5619750"/>
            <a:chExt cx="8953500" cy="514350"/>
          </a:xfrm>
        </p:grpSpPr>
        <p:sp>
          <p:nvSpPr>
            <p:cNvPr id="31" name="Rectangle 31"/>
            <p:cNvSpPr/>
            <p:nvPr/>
          </p:nvSpPr>
          <p:spPr>
            <a:xfrm>
              <a:off x="1619250" y="5619750"/>
              <a:ext cx="8953500" cy="51435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26809" y="5758815"/>
              <a:ext cx="533838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這不是工具選型問題，而是人機協作設計問題。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30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69239" y="848678"/>
            <a:ext cx="9765411" cy="2534983"/>
            <a:chOff x="769239" y="848678"/>
            <a:chExt cx="9765411" cy="2534983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69239" y="3139821"/>
              <a:ext cx="6865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RISK 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目前最常見的三個失效點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638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三個失效點不是平行雜訊，而是會沿著同一條治理鏈一路放大。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9250" y="2247900"/>
            <a:ext cx="3770257" cy="1112044"/>
            <a:chOff x="1619250" y="2247900"/>
            <a:chExt cx="3770257" cy="1112044"/>
          </a:xfrm>
        </p:grpSpPr>
        <p:sp>
          <p:nvSpPr>
            <p:cNvPr id="14" name="Rectangle 14"/>
            <p:cNvSpPr/>
            <p:nvPr/>
          </p:nvSpPr>
          <p:spPr>
            <a:xfrm>
              <a:off x="1619250" y="2247900"/>
              <a:ext cx="33528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47900"/>
              <a:ext cx="3352800" cy="133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790700" y="25146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 w="14288">
              <a:solidFill>
                <a:srgbClr val="00AA6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59920" y="2711768"/>
              <a:ext cx="194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133850" y="2514600"/>
              <a:ext cx="685800" cy="228600"/>
            </a:xfrm>
            <a:prstGeom prst="roundRect">
              <a:avLst>
                <a:gd name="adj" fmla="val 33333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285298" y="2579370"/>
              <a:ext cx="382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未確認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32685" y="25136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假設先驗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41258" y="2872264"/>
              <a:ext cx="29482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需求還沒講清楚時，AI 就先補完假設，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41258" y="310086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讓方向偏差從一開始就被寫進輸出。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19250" y="3467100"/>
            <a:ext cx="3404712" cy="1112044"/>
            <a:chOff x="1619250" y="3467100"/>
            <a:chExt cx="3404712" cy="1112044"/>
          </a:xfrm>
        </p:grpSpPr>
        <p:sp>
          <p:nvSpPr>
            <p:cNvPr id="24" name="Rectangle 24"/>
            <p:cNvSpPr/>
            <p:nvPr/>
          </p:nvSpPr>
          <p:spPr>
            <a:xfrm>
              <a:off x="1619250" y="3467100"/>
              <a:ext cx="33528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19250" y="3467100"/>
              <a:ext cx="3352800" cy="133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790700" y="37338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 w="14288">
              <a:solidFill>
                <a:srgbClr val="00905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36292" y="39309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133850" y="3733800"/>
              <a:ext cx="685800" cy="228600"/>
            </a:xfrm>
            <a:prstGeom prst="roundRect">
              <a:avLst>
                <a:gd name="adj" fmla="val 33333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45305" y="3798570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堆疊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32685" y="37328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過度設計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41258" y="40914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小任務卻先長出抽象層與新架構，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41258" y="43200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把維護成本提前灌進團隊流程。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19250" y="4686300"/>
            <a:ext cx="3549230" cy="1112044"/>
            <a:chOff x="1619250" y="4686300"/>
            <a:chExt cx="3549230" cy="1112044"/>
          </a:xfrm>
        </p:grpSpPr>
        <p:sp>
          <p:nvSpPr>
            <p:cNvPr id="34" name="Rectangle 34"/>
            <p:cNvSpPr/>
            <p:nvPr/>
          </p:nvSpPr>
          <p:spPr>
            <a:xfrm>
              <a:off x="1619250" y="4686300"/>
              <a:ext cx="33528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619250" y="4686300"/>
              <a:ext cx="3352800" cy="133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790700" y="4953000"/>
              <a:ext cx="533400" cy="533400"/>
            </a:xfrm>
            <a:prstGeom prst="ellipse">
              <a:avLst/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 w="14288">
              <a:solidFill>
                <a:srgbClr val="3BBB8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936292" y="51501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133850" y="4953000"/>
              <a:ext cx="685800" cy="228600"/>
            </a:xfrm>
            <a:prstGeom prst="roundRect">
              <a:avLst>
                <a:gd name="adj" fmla="val 33333"/>
              </a:avLst>
            </a:prstGeom>
            <a:solidFill>
              <a:srgbClr val="F3F3F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45305" y="5017770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擴散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32685" y="49520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附帶修改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41258" y="53106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本來只修局部，最後卻把無關區塊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41258" y="5539264"/>
              <a:ext cx="27272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一併改掉，讓 review 焦點被稀釋。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972050" y="2781300"/>
            <a:ext cx="2324100" cy="2438400"/>
            <a:chOff x="4972050" y="2781300"/>
            <a:chExt cx="2324100" cy="2438400"/>
          </a:xfrm>
        </p:grpSpPr>
        <p:sp>
          <p:nvSpPr>
            <p:cNvPr id="44" name="Freeform 44"/>
            <p:cNvSpPr/>
            <p:nvPr/>
          </p:nvSpPr>
          <p:spPr>
            <a:xfrm>
              <a:off x="4972050" y="2781300"/>
              <a:ext cx="600075" cy="1219200"/>
            </a:xfrm>
            <a:custGeom>
              <a:avLst/>
              <a:gdLst/>
              <a:ahLst/>
              <a:cxnLst/>
              <a:rect l="l" t="t" r="r" b="b"/>
              <a:pathLst>
                <a:path w="600075" h="1219200">
                  <a:moveTo>
                    <a:pt x="0" y="0"/>
                  </a:moveTo>
                  <a:lnTo>
                    <a:pt x="361950" y="0"/>
                  </a:lnTo>
                  <a:lnTo>
                    <a:pt x="361950" y="1219200"/>
                  </a:lnTo>
                  <a:lnTo>
                    <a:pt x="600075" y="121920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45" name="Freeform 45"/>
            <p:cNvSpPr/>
            <p:nvPr/>
          </p:nvSpPr>
          <p:spPr>
            <a:xfrm>
              <a:off x="4972050" y="4000500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600075" h="9525">
                  <a:moveTo>
                    <a:pt x="0" y="0"/>
                  </a:moveTo>
                  <a:lnTo>
                    <a:pt x="600075" y="0"/>
                  </a:lnTo>
                </a:path>
              </a:pathLst>
            </a:cu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46" name="Freeform 46"/>
            <p:cNvSpPr/>
            <p:nvPr/>
          </p:nvSpPr>
          <p:spPr>
            <a:xfrm>
              <a:off x="4972050" y="4000500"/>
              <a:ext cx="600075" cy="1219200"/>
            </a:xfrm>
            <a:custGeom>
              <a:avLst/>
              <a:gdLst/>
              <a:ahLst/>
              <a:cxnLst/>
              <a:rect l="l" t="t" r="r" b="b"/>
              <a:pathLst>
                <a:path w="600075" h="1219200">
                  <a:moveTo>
                    <a:pt x="0" y="1219200"/>
                  </a:moveTo>
                  <a:lnTo>
                    <a:pt x="361950" y="1219200"/>
                  </a:lnTo>
                  <a:lnTo>
                    <a:pt x="361950" y="0"/>
                  </a:lnTo>
                  <a:lnTo>
                    <a:pt x="600075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47" name="Line 47"/>
            <p:cNvSpPr/>
            <p:nvPr/>
          </p:nvSpPr>
          <p:spPr>
            <a:xfrm>
              <a:off x="6810375" y="4000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48" name="Ellipse 48"/>
            <p:cNvSpPr/>
            <p:nvPr/>
          </p:nvSpPr>
          <p:spPr>
            <a:xfrm>
              <a:off x="5514975" y="394335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7181850" y="394335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572125" y="3657600"/>
              <a:ext cx="1238250" cy="685800"/>
            </a:xfrm>
            <a:prstGeom prst="roundRect">
              <a:avLst>
                <a:gd name="adj" fmla="val 22222"/>
              </a:avLst>
            </a:prstGeom>
            <a:solidFill>
              <a:srgbClr val="F3F3F3"/>
            </a:solidFill>
            <a:ln w="9525">
              <a:solidFill>
                <a:srgbClr val="D9D9D9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39790" y="37890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共通效應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08237" y="39652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治理失焦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239000" y="2362200"/>
            <a:ext cx="4027551" cy="3390900"/>
            <a:chOff x="7239000" y="2362200"/>
            <a:chExt cx="4027551" cy="3390900"/>
          </a:xfrm>
        </p:grpSpPr>
        <p:sp>
          <p:nvSpPr>
            <p:cNvPr id="54" name="Rectangle 54"/>
            <p:cNvSpPr/>
            <p:nvPr/>
          </p:nvSpPr>
          <p:spPr>
            <a:xfrm>
              <a:off x="7239000" y="2362200"/>
              <a:ext cx="3333750" cy="3390900"/>
            </a:xfrm>
            <a:prstGeom prst="roundRect">
              <a:avLst>
                <a:gd name="adj" fmla="val 6286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239000" y="2362200"/>
              <a:ext cx="3333750" cy="666750"/>
            </a:xfrm>
            <a:prstGeom prst="roundRect">
              <a:avLst>
                <a:gd name="adj" fmla="val 31429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524750" y="2552700"/>
              <a:ext cx="266700" cy="250031"/>
            </a:xfrm>
            <a:custGeom>
              <a:avLst/>
              <a:gdLst/>
              <a:ahLst/>
              <a:cxnLst/>
              <a:rect l="l" t="t" r="r" b="b"/>
              <a:pathLst>
                <a:path w="266700" h="250031">
                  <a:moveTo>
                    <a:pt x="266700" y="250031"/>
                  </a:moveTo>
                  <a:lnTo>
                    <a:pt x="0" y="250031"/>
                  </a:lnTo>
                  <a:lnTo>
                    <a:pt x="0" y="200025"/>
                  </a:lnTo>
                  <a:lnTo>
                    <a:pt x="116681" y="0"/>
                  </a:lnTo>
                  <a:lnTo>
                    <a:pt x="150019" y="0"/>
                  </a:lnTo>
                  <a:lnTo>
                    <a:pt x="266700" y="200025"/>
                  </a:lnTo>
                  <a:lnTo>
                    <a:pt x="266700" y="250031"/>
                  </a:lnTo>
                  <a:close/>
                  <a:moveTo>
                    <a:pt x="116681" y="66675"/>
                  </a:moveTo>
                  <a:lnTo>
                    <a:pt x="150019" y="66675"/>
                  </a:lnTo>
                  <a:lnTo>
                    <a:pt x="150019" y="150019"/>
                  </a:lnTo>
                  <a:lnTo>
                    <a:pt x="116681" y="150019"/>
                  </a:lnTo>
                  <a:lnTo>
                    <a:pt x="116681" y="66675"/>
                  </a:lnTo>
                  <a:close/>
                  <a:moveTo>
                    <a:pt x="116681" y="183356"/>
                  </a:moveTo>
                  <a:lnTo>
                    <a:pt x="150019" y="183356"/>
                  </a:lnTo>
                  <a:lnTo>
                    <a:pt x="150019" y="216694"/>
                  </a:lnTo>
                  <a:lnTo>
                    <a:pt x="116681" y="216694"/>
                  </a:lnTo>
                  <a:lnTo>
                    <a:pt x="116681" y="1833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901940" y="255841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共同後果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486650" y="3219450"/>
              <a:ext cx="342900" cy="342900"/>
            </a:xfrm>
            <a:prstGeom prst="ellipse">
              <a:avLst/>
            </a:prstGeom>
            <a:solidFill>
              <a:srgbClr val="F4FBF8"/>
            </a:solidFill>
            <a:ln w="14288">
              <a:solidFill>
                <a:srgbClr val="00AA6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608175" y="33427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41945" y="3155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方向偏差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47660" y="3451860"/>
              <a:ext cx="29348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AI 從第一步就走歪，後續修正都在補救。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486650" y="3962400"/>
              <a:ext cx="342900" cy="342900"/>
            </a:xfrm>
            <a:prstGeom prst="ellipse">
              <a:avLst/>
            </a:prstGeom>
            <a:solidFill>
              <a:srgbClr val="F4FBF8"/>
            </a:solidFill>
            <a:ln w="14288">
              <a:solidFill>
                <a:srgbClr val="00AA64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08175" y="408574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41945" y="38985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維護膨脹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47660" y="419481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多餘架構和擴散修改一起累積技術負債。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486650" y="4705350"/>
              <a:ext cx="342900" cy="342900"/>
            </a:xfrm>
            <a:prstGeom prst="ellipse">
              <a:avLst/>
            </a:prstGeom>
            <a:solidFill>
              <a:srgbClr val="F4FBF8"/>
            </a:solidFill>
            <a:ln w="14288">
              <a:solidFill>
                <a:srgbClr val="00AA6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608175" y="4828699"/>
              <a:ext cx="998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C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41945" y="46415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審查變慢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947660" y="4937760"/>
              <a:ext cx="33188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review 被迫先清噪音，再找真正重要的差異。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486650" y="5295900"/>
              <a:ext cx="2838450" cy="28575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495865" y="5373052"/>
              <a:ext cx="28200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三者疊加後，成本不是相加，而是連鎖放大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604010" y="6061710"/>
            <a:ext cx="6319266" cy="243840"/>
            <a:chOff x="1604010" y="6061710"/>
            <a:chExt cx="6319266" cy="243840"/>
          </a:xfrm>
        </p:grpSpPr>
        <p:sp>
          <p:nvSpPr>
            <p:cNvPr id="73" name="TextBox 73"/>
            <p:cNvSpPr txBox="1"/>
            <p:nvPr/>
          </p:nvSpPr>
          <p:spPr>
            <a:xfrm>
              <a:off x="1604010" y="6061710"/>
              <a:ext cx="6319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先偏方向，再放大維護，最後把 review 變成噪音清理，這就是 AI 協作最常見的失焦鏈。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3" grpId="0"/>
      <p:bldP spid="43" grpId="0"/>
      <p:bldP spid="53" grpId="0"/>
      <p:bldP spid="72" grpId="0"/>
      <p:bldP spid="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33235" y="848678"/>
            <a:ext cx="9801415" cy="2570988"/>
            <a:chOff x="733235" y="848678"/>
            <a:chExt cx="9801415" cy="2570988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33235" y="3175826"/>
              <a:ext cx="758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COST 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問題的管理成本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4838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這件事的成本，會同時落在工程執行端與管理判斷端。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28900" y="2324100"/>
            <a:ext cx="7429500" cy="3314700"/>
            <a:chOff x="2628900" y="2324100"/>
            <a:chExt cx="7429500" cy="3314700"/>
          </a:xfrm>
        </p:grpSpPr>
        <p:sp>
          <p:nvSpPr>
            <p:cNvPr id="14" name="Ellipse 14"/>
            <p:cNvSpPr/>
            <p:nvPr/>
          </p:nvSpPr>
          <p:spPr>
            <a:xfrm>
              <a:off x="2628900" y="2324100"/>
              <a:ext cx="3924300" cy="3314700"/>
            </a:xfrm>
            <a:prstGeom prst="ellipse">
              <a:avLst/>
            </a:prstGeom>
            <a:solidFill>
              <a:srgbClr val="3BBB8E">
                <a:alpha val="22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134100" y="2324100"/>
              <a:ext cx="3924300" cy="3314700"/>
            </a:xfrm>
            <a:prstGeom prst="ellipse">
              <a:avLst/>
            </a:prstGeom>
            <a:solidFill>
              <a:srgbClr val="9AE992">
                <a:alpha val="28000"/>
              </a:srgbClr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5353050" y="39814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17" name="Line 17"/>
            <p:cNvSpPr/>
            <p:nvPr/>
          </p:nvSpPr>
          <p:spPr>
            <a:xfrm>
              <a:off x="6915150" y="39814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3812">
              <a:solidFill>
                <a:srgbClr val="00AA64"/>
              </a:solidFill>
              <a:prstDash val="dash"/>
            </a:ln>
          </p:spPr>
        </p:sp>
        <p:sp>
          <p:nvSpPr>
            <p:cNvPr id="18" name="Ellipse 18"/>
            <p:cNvSpPr/>
            <p:nvPr/>
          </p:nvSpPr>
          <p:spPr>
            <a:xfrm>
              <a:off x="5715000" y="3924300"/>
              <a:ext cx="114300" cy="114300"/>
            </a:xfrm>
            <a:prstGeom prst="ellipse">
              <a:avLst/>
            </a:prstGeom>
            <a:solidFill>
              <a:srgbClr val="AFABAB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277100" y="39243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72150" y="2628900"/>
              <a:ext cx="1143000" cy="2705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29325" y="35552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共同壓力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00036" y="3852862"/>
              <a:ext cx="68722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治理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00036" y="4214812"/>
              <a:ext cx="68722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成本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127058" y="2667000"/>
            <a:ext cx="2872930" cy="1454944"/>
            <a:chOff x="3127058" y="2667000"/>
            <a:chExt cx="2872930" cy="1454944"/>
          </a:xfrm>
        </p:grpSpPr>
        <p:sp>
          <p:nvSpPr>
            <p:cNvPr id="25" name="Ellipse 25"/>
            <p:cNvSpPr/>
            <p:nvPr/>
          </p:nvSpPr>
          <p:spPr>
            <a:xfrm>
              <a:off x="3219450" y="2667000"/>
              <a:ext cx="457200" cy="457200"/>
            </a:xfrm>
            <a:prstGeom prst="ellipse">
              <a:avLst/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3314700" y="2778919"/>
              <a:ext cx="266700" cy="233362"/>
              <a:chOff x="3314700" y="2778919"/>
              <a:chExt cx="266700" cy="23336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3364706" y="2778919"/>
                <a:ext cx="83344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83344">
                    <a:moveTo>
                      <a:pt x="83344" y="41672"/>
                    </a:moveTo>
                    <a:cubicBezTo>
                      <a:pt x="83344" y="64687"/>
                      <a:pt x="64687" y="83344"/>
                      <a:pt x="41672" y="83344"/>
                    </a:cubicBez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314700" y="2895600"/>
                <a:ext cx="133350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6681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116681"/>
                    </a:lnTo>
                    <a:lnTo>
                      <a:pt x="133350" y="116681"/>
                    </a:lnTo>
                    <a:lnTo>
                      <a:pt x="133350" y="0"/>
                    </a:lnTo>
                    <a:lnTo>
                      <a:pt x="500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481388" y="2895600"/>
                <a:ext cx="100012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6681">
                    <a:moveTo>
                      <a:pt x="50006" y="0"/>
                    </a:moveTo>
                    <a:lnTo>
                      <a:pt x="0" y="0"/>
                    </a:lnTo>
                    <a:lnTo>
                      <a:pt x="0" y="116681"/>
                    </a:lnTo>
                    <a:lnTo>
                      <a:pt x="100012" y="116681"/>
                    </a:lnTo>
                    <a:lnTo>
                      <a:pt x="100012" y="50006"/>
                    </a:lnTo>
                    <a:cubicBezTo>
                      <a:pt x="100012" y="22389"/>
                      <a:pt x="77625" y="0"/>
                      <a:pt x="500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481388" y="27955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50" y="66675"/>
                      <a:pt x="66675" y="51749"/>
                      <a:pt x="66675" y="33338"/>
                    </a:cubicBezTo>
                    <a:cubicBezTo>
                      <a:pt x="66675" y="14926"/>
                      <a:pt x="51750" y="0"/>
                      <a:pt x="33338" y="0"/>
                    </a:cubicBezTo>
                    <a:cubicBezTo>
                      <a:pt x="14925" y="0"/>
                      <a:pt x="0" y="14926"/>
                      <a:pt x="0" y="33338"/>
                    </a:cubicBezTo>
                    <a:cubicBezTo>
                      <a:pt x="0" y="51749"/>
                      <a:pt x="14925" y="66675"/>
                      <a:pt x="33338" y="666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3766185" y="2761298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工程端的直接影響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27058" y="3291364"/>
              <a:ext cx="21236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花時間把 AI 拉回正確方向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27058" y="3577114"/>
              <a:ext cx="26507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review 先清噪音，再找真正重點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27058" y="3862864"/>
              <a:ext cx="22171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重工、補丁與維護同步膨脹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27508" y="2667000"/>
            <a:ext cx="3058763" cy="1454944"/>
            <a:chOff x="6727508" y="2667000"/>
            <a:chExt cx="3058763" cy="1454944"/>
          </a:xfrm>
        </p:grpSpPr>
        <p:sp>
          <p:nvSpPr>
            <p:cNvPr id="36" name="Ellipse 36"/>
            <p:cNvSpPr/>
            <p:nvPr/>
          </p:nvSpPr>
          <p:spPr>
            <a:xfrm>
              <a:off x="8934450" y="2667000"/>
              <a:ext cx="457200" cy="457200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9029700" y="2778919"/>
              <a:ext cx="266700" cy="233363"/>
              <a:chOff x="9029700" y="2778919"/>
              <a:chExt cx="266700" cy="23336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229725" y="2778919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lnTo>
                      <a:pt x="0" y="0"/>
                    </a:lnTo>
                    <a:lnTo>
                      <a:pt x="0" y="233362"/>
                    </a:lnTo>
                    <a:lnTo>
                      <a:pt x="66675" y="233362"/>
                    </a:lnTo>
                    <a:lnTo>
                      <a:pt x="66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129712" y="2845594"/>
                <a:ext cx="666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66688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166688"/>
                    </a:lnTo>
                    <a:lnTo>
                      <a:pt x="0" y="1666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029700" y="2912269"/>
                <a:ext cx="6667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2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100012"/>
                    </a:lnTo>
                    <a:lnTo>
                      <a:pt x="0" y="1000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737985" y="2761298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管理端看到的訊號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27508" y="3291364"/>
              <a:ext cx="305876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問題不是單一 bug，而是流程治理缺口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27508" y="3577114"/>
              <a:ext cx="25572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錯誤會沿協作鏈反覆擴散與放大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27508" y="3862864"/>
              <a:ext cx="25572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• 工具越普及，規則越要前置設計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619250" y="5905500"/>
            <a:ext cx="8953500" cy="400050"/>
            <a:chOff x="1619250" y="5905500"/>
            <a:chExt cx="8953500" cy="400050"/>
          </a:xfrm>
        </p:grpSpPr>
        <p:sp>
          <p:nvSpPr>
            <p:cNvPr id="46" name="Rectangle 46"/>
            <p:cNvSpPr/>
            <p:nvPr/>
          </p:nvSpPr>
          <p:spPr>
            <a:xfrm>
              <a:off x="1619250" y="5905500"/>
              <a:ext cx="8953500" cy="400050"/>
            </a:xfrm>
            <a:prstGeom prst="roundRect">
              <a:avLst>
                <a:gd name="adj" fmla="val 33333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851660" y="6023610"/>
              <a:ext cx="62712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真正昂貴的不是偶發錯誤，而是當錯誤沒有治理時，它會一路佔用工程與管理的注意力。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5" grpId="0"/>
      <p:bldP spid="45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01206" y="848678"/>
            <a:ext cx="10033444" cy="2803016"/>
            <a:chOff x="501206" y="848678"/>
            <a:chExt cx="10033444" cy="2803016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501206" y="3407854"/>
              <a:ext cx="12226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SOLUTION FLOW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社群給出的解法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638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核心做法很直接：先把高價值協作規則寫進提示詞與工作流程。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19250" y="2133600"/>
            <a:ext cx="8858250" cy="723900"/>
            <a:chOff x="1619250" y="2133600"/>
            <a:chExt cx="8858250" cy="72390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33600"/>
              <a:ext cx="8858250" cy="723900"/>
            </a:xfrm>
            <a:prstGeom prst="roundRect">
              <a:avLst>
                <a:gd name="adj" fmla="val 26316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18335" y="2351722"/>
              <a:ext cx="617914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先用規則穩住 AI 行為，再談模型升級與流程擴張。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847850" y="3276600"/>
            <a:ext cx="8401050" cy="895350"/>
            <a:chOff x="1847850" y="3276600"/>
            <a:chExt cx="8401050" cy="895350"/>
          </a:xfrm>
        </p:grpSpPr>
        <p:sp>
          <p:nvSpPr>
            <p:cNvPr id="17" name="Line 17"/>
            <p:cNvSpPr/>
            <p:nvPr/>
          </p:nvSpPr>
          <p:spPr>
            <a:xfrm>
              <a:off x="1847850" y="371475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38100">
              <a:solidFill>
                <a:srgbClr val="D9D9D9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514600" y="32766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438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19" name="Line 19"/>
            <p:cNvSpPr/>
            <p:nvPr/>
          </p:nvSpPr>
          <p:spPr>
            <a:xfrm>
              <a:off x="4648200" y="37147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6781800" y="32766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438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8915400" y="37147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rgbClr val="AFABAB"/>
              </a:solidFill>
              <a:prstDash val="dash"/>
            </a:ln>
          </p:spPr>
        </p:sp>
        <p:sp>
          <p:nvSpPr>
            <p:cNvPr id="22" name="Ellipse 22"/>
            <p:cNvSpPr/>
            <p:nvPr/>
          </p:nvSpPr>
          <p:spPr>
            <a:xfrm>
              <a:off x="2438400" y="363855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572000" y="363855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705600" y="363855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839200" y="3638550"/>
              <a:ext cx="152400" cy="1524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619250" y="2038350"/>
            <a:ext cx="1844040" cy="1200150"/>
            <a:chOff x="1619250" y="2038350"/>
            <a:chExt cx="1844040" cy="1200150"/>
          </a:xfrm>
        </p:grpSpPr>
        <p:sp>
          <p:nvSpPr>
            <p:cNvPr id="27" name="Rectangle 27"/>
            <p:cNvSpPr/>
            <p:nvPr/>
          </p:nvSpPr>
          <p:spPr>
            <a:xfrm>
              <a:off x="1619250" y="2038350"/>
              <a:ext cx="1790700" cy="1200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36420" y="2188845"/>
              <a:ext cx="3757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24990" y="24155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寫清邊界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32610" y="27470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把能做與不能做，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32610" y="29565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直接寫進系統提示詞。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828800" y="2971800"/>
              <a:ext cx="1371600" cy="228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99107" y="3027045"/>
              <a:ext cx="1030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降低自由發揮空間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52850" y="4171950"/>
            <a:ext cx="1790700" cy="1200150"/>
            <a:chOff x="3752850" y="4171950"/>
            <a:chExt cx="1790700" cy="1200150"/>
          </a:xfrm>
        </p:grpSpPr>
        <p:sp>
          <p:nvSpPr>
            <p:cNvPr id="35" name="Rectangle 35"/>
            <p:cNvSpPr/>
            <p:nvPr/>
          </p:nvSpPr>
          <p:spPr>
            <a:xfrm>
              <a:off x="3752850" y="4171950"/>
              <a:ext cx="1790700" cy="1200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70020" y="432244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58590" y="45491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設停損點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66210" y="48806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需求不清先提問，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66210" y="50901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不准直接猜完再做。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962400" y="5105400"/>
              <a:ext cx="1371600" cy="228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195715" y="5160645"/>
              <a:ext cx="904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把偏差攔在前段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886450" y="2038350"/>
            <a:ext cx="1790700" cy="1200150"/>
            <a:chOff x="5886450" y="2038350"/>
            <a:chExt cx="1790700" cy="1200150"/>
          </a:xfrm>
        </p:grpSpPr>
        <p:sp>
          <p:nvSpPr>
            <p:cNvPr id="43" name="Rectangle 43"/>
            <p:cNvSpPr/>
            <p:nvPr/>
          </p:nvSpPr>
          <p:spPr>
            <a:xfrm>
              <a:off x="5886450" y="2038350"/>
              <a:ext cx="1790700" cy="1200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03620" y="218884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92190" y="24155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綁定驗收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99810" y="27470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把測試、檢查與完成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99810" y="29565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定義一起寫進流程。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96000" y="2971800"/>
              <a:ext cx="1371600" cy="228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29315" y="3027045"/>
              <a:ext cx="904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讓輸出可被驗證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020050" y="4171950"/>
            <a:ext cx="1790700" cy="1200150"/>
            <a:chOff x="8020050" y="4171950"/>
            <a:chExt cx="1790700" cy="1200150"/>
          </a:xfrm>
        </p:grpSpPr>
        <p:sp>
          <p:nvSpPr>
            <p:cNvPr id="51" name="Rectangle 51"/>
            <p:cNvSpPr/>
            <p:nvPr/>
          </p:nvSpPr>
          <p:spPr>
            <a:xfrm>
              <a:off x="8020050" y="4171950"/>
              <a:ext cx="1790700" cy="1200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37220" y="432244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AA64"/>
                  </a:solidFill>
                  <a:latin typeface="Arial"/>
                  <a:ea typeface="Microsoft YaHei"/>
                  <a:cs typeface="Arial"/>
                </a:rPr>
                <a:t>STEP 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25790" y="45491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逐步擴大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33410" y="48806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先穩定高價值任務，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33410" y="50901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再向更多場景擴張。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229600" y="5105400"/>
              <a:ext cx="1371600" cy="228600"/>
            </a:xfrm>
            <a:prstGeom prst="roundRect">
              <a:avLst>
                <a:gd name="adj" fmla="val 50000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62915" y="5160645"/>
              <a:ext cx="904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低成本、可持續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619250" y="5886450"/>
            <a:ext cx="8858250" cy="400050"/>
            <a:chOff x="1619250" y="5886450"/>
            <a:chExt cx="8858250" cy="400050"/>
          </a:xfrm>
        </p:grpSpPr>
        <p:sp>
          <p:nvSpPr>
            <p:cNvPr id="59" name="Rectangle 59"/>
            <p:cNvSpPr/>
            <p:nvPr/>
          </p:nvSpPr>
          <p:spPr>
            <a:xfrm>
              <a:off x="1619250" y="5886450"/>
              <a:ext cx="8858250" cy="400050"/>
            </a:xfrm>
            <a:prstGeom prst="roundRect">
              <a:avLst>
                <a:gd name="adj" fmla="val 33333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851660" y="6004560"/>
              <a:ext cx="70713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這類方案之所以快速累積關注，是因為它不要求先升級模型或重建基礎設施，而是先穩住輸出行為。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34" grpId="0"/>
      <p:bldP spid="42" grpId="0"/>
      <p:bldP spid="50" grpId="0"/>
      <p:bldP spid="58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69214" y="848678"/>
            <a:ext cx="9965436" cy="2735008"/>
            <a:chOff x="569214" y="848678"/>
            <a:chExt cx="9965436" cy="2735008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569214" y="3339846"/>
              <a:ext cx="10866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PRINCIPLE 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四大約束原則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038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四個原則不是口號，而是可以直接映射成團隊管理要求。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02105" y="1981200"/>
            <a:ext cx="6881955" cy="319088"/>
            <a:chOff x="1602105" y="1981200"/>
            <a:chExt cx="6881955" cy="319088"/>
          </a:xfrm>
        </p:grpSpPr>
        <p:sp>
          <p:nvSpPr>
            <p:cNvPr id="14" name="TextBox 14"/>
            <p:cNvSpPr txBox="1"/>
            <p:nvPr/>
          </p:nvSpPr>
          <p:spPr>
            <a:xfrm>
              <a:off x="1602105" y="20259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四個最小治理原則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486400" y="19812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rgbClr val="F3F3F3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32538" y="20650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08080"/>
                  </a:solidFill>
                  <a:latin typeface="Arial"/>
                  <a:ea typeface="Microsoft JhengHei"/>
                  <a:cs typeface="Arial"/>
                </a:rPr>
                <a:t>治理映射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26605" y="20259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對應的管理要求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19250" y="2343150"/>
            <a:ext cx="8953500" cy="685800"/>
            <a:chOff x="1619250" y="2343150"/>
            <a:chExt cx="8953500" cy="685800"/>
          </a:xfrm>
        </p:grpSpPr>
        <p:sp>
          <p:nvSpPr>
            <p:cNvPr id="19" name="Rectangle 19"/>
            <p:cNvSpPr/>
            <p:nvPr/>
          </p:nvSpPr>
          <p:spPr>
            <a:xfrm>
              <a:off x="1619250" y="23431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771650" y="2495550"/>
              <a:ext cx="381000" cy="381000"/>
            </a:xfrm>
            <a:prstGeom prst="ellipse">
              <a:avLst/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91748" y="2637949"/>
              <a:ext cx="1408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49805" y="2464118"/>
              <a:ext cx="18205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Think Before Coding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52662" y="2707481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需求未清楚前先確認，避免方向性錯誤。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048250" y="26860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25" name="Ellipse 25"/>
            <p:cNvSpPr/>
            <p:nvPr/>
          </p:nvSpPr>
          <p:spPr>
            <a:xfrm>
              <a:off x="6038850" y="26289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086600" y="26289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143750" y="23431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93305" y="24641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模糊需求先澄清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96162" y="270748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沒有明確問題定義，就不進入執行。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619250" y="3181350"/>
            <a:ext cx="8953500" cy="685800"/>
            <a:chOff x="1619250" y="3181350"/>
            <a:chExt cx="8953500" cy="685800"/>
          </a:xfrm>
        </p:grpSpPr>
        <p:sp>
          <p:nvSpPr>
            <p:cNvPr id="31" name="Rectangle 31"/>
            <p:cNvSpPr/>
            <p:nvPr/>
          </p:nvSpPr>
          <p:spPr>
            <a:xfrm>
              <a:off x="1619250" y="31813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771650" y="3333750"/>
              <a:ext cx="381000" cy="381000"/>
            </a:xfrm>
            <a:prstGeom prst="ellipse">
              <a:avLst/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74683" y="34761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49805" y="3302318"/>
              <a:ext cx="19056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No Over-engineering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52662" y="3545681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只做當下需要的解法，不為假想未來堆架構。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048250" y="35242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37" name="Ellipse 37"/>
            <p:cNvSpPr/>
            <p:nvPr/>
          </p:nvSpPr>
          <p:spPr>
            <a:xfrm>
              <a:off x="6038850" y="34671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086600" y="34671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43750" y="31813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93305" y="33023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禁止預先堆架構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96162" y="354568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先控制維護成本，再考慮額外彈性。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619250" y="4019550"/>
            <a:ext cx="8953500" cy="685800"/>
            <a:chOff x="1619250" y="4019550"/>
            <a:chExt cx="8953500" cy="685800"/>
          </a:xfrm>
        </p:grpSpPr>
        <p:sp>
          <p:nvSpPr>
            <p:cNvPr id="43" name="Rectangle 43"/>
            <p:cNvSpPr/>
            <p:nvPr/>
          </p:nvSpPr>
          <p:spPr>
            <a:xfrm>
              <a:off x="1619250" y="40195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771650" y="4171950"/>
              <a:ext cx="381000" cy="381000"/>
            </a:xfrm>
            <a:prstGeom prst="ellipse">
              <a:avLst/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874683" y="43143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249805" y="4140518"/>
              <a:ext cx="21702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Targeted Modifications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252662" y="4383881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只改與任務直接相關的程式碼，避免修一帶十。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5048250" y="43624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49" name="Ellipse 49"/>
            <p:cNvSpPr/>
            <p:nvPr/>
          </p:nvSpPr>
          <p:spPr>
            <a:xfrm>
              <a:off x="6038850" y="43053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7086600" y="43053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43750" y="40195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93305" y="414051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禁止順手擴散修改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96162" y="4383881"/>
              <a:ext cx="28564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保護 review 焦點，讓差異可被明確判讀。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619250" y="4857750"/>
            <a:ext cx="8953500" cy="685800"/>
            <a:chOff x="1619250" y="4857750"/>
            <a:chExt cx="8953500" cy="685800"/>
          </a:xfrm>
        </p:grpSpPr>
        <p:sp>
          <p:nvSpPr>
            <p:cNvPr id="55" name="Rectangle 55"/>
            <p:cNvSpPr/>
            <p:nvPr/>
          </p:nvSpPr>
          <p:spPr>
            <a:xfrm>
              <a:off x="1619250" y="48577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771650" y="5010150"/>
              <a:ext cx="381000" cy="3810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874683" y="51525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249805" y="4978718"/>
              <a:ext cx="24065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Outcome-based Execution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252662" y="5222081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用可驗證結果驅動交付，而不是只看產出量。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5048250" y="52006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00AA64"/>
              </a:solidFill>
              <a:prstDash val="dash"/>
            </a:ln>
          </p:spPr>
        </p:sp>
        <p:sp>
          <p:nvSpPr>
            <p:cNvPr id="61" name="Ellipse 61"/>
            <p:cNvSpPr/>
            <p:nvPr/>
          </p:nvSpPr>
          <p:spPr>
            <a:xfrm>
              <a:off x="6038850" y="51435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7086600" y="5143500"/>
              <a:ext cx="114300" cy="114300"/>
            </a:xfrm>
            <a:prstGeom prst="ellipse">
              <a:avLst/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43750" y="4857750"/>
              <a:ext cx="3429000" cy="685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393305" y="497871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優先要求可驗證成果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96162" y="5222081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測試、檢查與完成定義要先於自由發揮。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619250" y="5905500"/>
            <a:ext cx="8953500" cy="400050"/>
            <a:chOff x="1619250" y="5905500"/>
            <a:chExt cx="8953500" cy="400050"/>
          </a:xfrm>
        </p:grpSpPr>
        <p:sp>
          <p:nvSpPr>
            <p:cNvPr id="67" name="Rectangle 67"/>
            <p:cNvSpPr/>
            <p:nvPr/>
          </p:nvSpPr>
          <p:spPr>
            <a:xfrm>
              <a:off x="1619250" y="5905500"/>
              <a:ext cx="8953500" cy="400050"/>
            </a:xfrm>
            <a:prstGeom prst="roundRect">
              <a:avLst>
                <a:gd name="adj" fmla="val 33333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851660" y="6023610"/>
              <a:ext cx="57431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JhengHei"/>
                  <a:cs typeface="Arial"/>
                </a:rPr>
                <a:t>當原則被寫進提示詞、要求被寫進 review，AI 才會從自由發揮轉成可治理流程。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0" grpId="0"/>
      <p:bldP spid="42" grpId="0"/>
      <p:bldP spid="54" grpId="0"/>
      <p:bldP spid="66" grpId="0"/>
      <p:bldP spid="6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93242" y="848678"/>
            <a:ext cx="9741408" cy="2510980"/>
            <a:chOff x="793242" y="848678"/>
            <a:chExt cx="9741408" cy="2510980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93242" y="3115818"/>
              <a:ext cx="6385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CLOSING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7788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結語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638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真正可規模化的能力，來自清楚規則、可驗證結果，以及共同的修改紀律。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247900"/>
            <a:ext cx="8953500" cy="1924050"/>
            <a:chOff x="1619250" y="2247900"/>
            <a:chExt cx="8953500" cy="19240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47900"/>
              <a:ext cx="8953500" cy="1924050"/>
            </a:xfrm>
            <a:prstGeom prst="roundRect">
              <a:avLst>
                <a:gd name="adj" fmla="val 1089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47900"/>
              <a:ext cx="8953500" cy="1143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8815" y="2639378"/>
              <a:ext cx="415293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可規模化的 AI 開發流程，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8815" y="309657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不是建立在更強的自動化幻覺上，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8815" y="3553778"/>
              <a:ext cx="684861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而是建立在更明確的規則、驗證與邊界上。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50" y="4495800"/>
            <a:ext cx="2914269" cy="1047750"/>
            <a:chOff x="1619250" y="4495800"/>
            <a:chExt cx="2914269" cy="1047750"/>
          </a:xfrm>
        </p:grpSpPr>
        <p:sp>
          <p:nvSpPr>
            <p:cNvPr id="20" name="Rectangle 20"/>
            <p:cNvSpPr/>
            <p:nvPr/>
          </p:nvSpPr>
          <p:spPr>
            <a:xfrm>
              <a:off x="1619250" y="4495800"/>
              <a:ext cx="2705100" cy="10477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C3FFC0"/>
                </a:gs>
                <a:gs pos="96000">
                  <a:srgbClr val="3BBB8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74520" y="4665345"/>
              <a:ext cx="369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RULES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59280" y="4916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規則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70710" y="5261610"/>
              <a:ext cx="26628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先講清楚 AI 能做什麼、不能做什麼。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43450" y="4495800"/>
            <a:ext cx="3002280" cy="1047750"/>
            <a:chOff x="4743450" y="4495800"/>
            <a:chExt cx="3002280" cy="1047750"/>
          </a:xfrm>
        </p:grpSpPr>
        <p:sp>
          <p:nvSpPr>
            <p:cNvPr id="25" name="Rectangle 25"/>
            <p:cNvSpPr/>
            <p:nvPr/>
          </p:nvSpPr>
          <p:spPr>
            <a:xfrm>
              <a:off x="4743450" y="4495800"/>
              <a:ext cx="2705100" cy="10477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009056"/>
                </a:gs>
                <a:gs pos="34000">
                  <a:srgbClr val="00AA64"/>
                </a:gs>
                <a:gs pos="100000">
                  <a:srgbClr val="9AE99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98720" y="4665345"/>
              <a:ext cx="7852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VERIFICATION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83480" y="4916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驗證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94910" y="52616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JhengHei"/>
                  <a:cs typeface="Arial"/>
                </a:rPr>
                <a:t>先定義如何檢查，才知道何時算完成。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67650" y="4495800"/>
            <a:ext cx="3026283" cy="1047750"/>
            <a:chOff x="7867650" y="4495800"/>
            <a:chExt cx="3026283" cy="1047750"/>
          </a:xfrm>
        </p:grpSpPr>
        <p:sp>
          <p:nvSpPr>
            <p:cNvPr id="30" name="Rectangle 30"/>
            <p:cNvSpPr/>
            <p:nvPr/>
          </p:nvSpPr>
          <p:spPr>
            <a:xfrm>
              <a:off x="7867650" y="4495800"/>
              <a:ext cx="2705100" cy="10477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F3FC78"/>
                </a:gs>
                <a:gs pos="43000">
                  <a:srgbClr val="8CECBD"/>
                </a:gs>
                <a:gs pos="100000">
                  <a:srgbClr val="3BBB8E"/>
                </a:gs>
              </a:gsLst>
              <a:lin ang="13500000" scaled="1"/>
            </a:gra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22920" y="4665345"/>
              <a:ext cx="7096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BOUNDARIES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7680" y="4916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邊界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19110" y="5261610"/>
              <a:ext cx="27748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JhengHei"/>
                  <a:cs typeface="Arial"/>
                </a:rPr>
                <a:t>先守住修改範圍，AI 才能被持續管理。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00200" y="6019800"/>
            <a:ext cx="8915400" cy="409575"/>
            <a:chOff x="1600200" y="6019800"/>
            <a:chExt cx="8915400" cy="409575"/>
          </a:xfrm>
        </p:grpSpPr>
        <p:sp>
          <p:nvSpPr>
            <p:cNvPr id="35" name="TextBox 35"/>
            <p:cNvSpPr txBox="1"/>
            <p:nvPr/>
          </p:nvSpPr>
          <p:spPr>
            <a:xfrm>
              <a:off x="1600200" y="6029325"/>
              <a:ext cx="61918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Use AI well, not just often. Rules turn tools into capability.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8250" y="6019800"/>
              <a:ext cx="1657350" cy="4095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9" grpId="0"/>
      <p:bldP spid="3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