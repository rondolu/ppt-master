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23950"/>
            <a:ext cx="1790700" cy="361950"/>
            <a:chOff x="1619250" y="1123950"/>
            <a:chExt cx="1790700" cy="361950"/>
          </a:xfrm>
        </p:grpSpPr>
        <p:sp>
          <p:nvSpPr>
            <p:cNvPr id="9" name="Rectangle 9"/>
            <p:cNvSpPr/>
            <p:nvPr/>
          </p:nvSpPr>
          <p:spPr>
            <a:xfrm>
              <a:off x="1619250" y="1123950"/>
              <a:ext cx="1790700" cy="3619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97727" y="1248728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7815" y="1905952"/>
            <a:ext cx="4299585" cy="1465898"/>
            <a:chOff x="1567815" y="1905952"/>
            <a:chExt cx="4299585" cy="1465898"/>
          </a:xfrm>
        </p:grpSpPr>
        <p:sp>
          <p:nvSpPr>
            <p:cNvPr id="12" name="TextBox 12"/>
            <p:cNvSpPr txBox="1"/>
            <p:nvPr/>
          </p:nvSpPr>
          <p:spPr>
            <a:xfrm>
              <a:off x="1567815" y="1905952"/>
              <a:ext cx="3023285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7815" y="2515552"/>
              <a:ext cx="123701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276600"/>
              <a:ext cx="4248150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10940"/>
            <a:ext cx="5703827" cy="684848"/>
            <a:chOff x="1596390" y="3710940"/>
            <a:chExt cx="570382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10940"/>
              <a:ext cx="57038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當 AI 進入開發流程後，如何建立可治理的協作方式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21468"/>
              <a:ext cx="55069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From model capability to boundaries, process, and acceptance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4629150"/>
            <a:ext cx="3505200" cy="290512"/>
            <a:chOff x="1619250" y="4629150"/>
            <a:chExt cx="3505200" cy="290512"/>
          </a:xfrm>
        </p:grpSpPr>
        <p:sp>
          <p:nvSpPr>
            <p:cNvPr id="19" name="Rectangle 19"/>
            <p:cNvSpPr/>
            <p:nvPr/>
          </p:nvSpPr>
          <p:spPr>
            <a:xfrm>
              <a:off x="16192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922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384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114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流程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46291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306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驗收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19250" y="5105400"/>
            <a:ext cx="5391150" cy="800100"/>
            <a:chOff x="1619250" y="5105400"/>
            <a:chExt cx="5391150" cy="800100"/>
          </a:xfrm>
        </p:grpSpPr>
        <p:sp>
          <p:nvSpPr>
            <p:cNvPr id="26" name="Rectangle 26"/>
            <p:cNvSpPr/>
            <p:nvPr/>
          </p:nvSpPr>
          <p:spPr>
            <a:xfrm>
              <a:off x="1619250" y="5105400"/>
              <a:ext cx="5391150" cy="800100"/>
            </a:xfrm>
            <a:prstGeom prst="roundRect">
              <a:avLst>
                <a:gd name="adj" fmla="val 21429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06905" y="5264468"/>
              <a:ext cx="4237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起點：Karpathy 觀察與 GitHub 萬星提示詞治理實踐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6905" y="5531168"/>
              <a:ext cx="42558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核心：先定義邊界、流程與驗收標準，再擴大 AI 協作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00200" y="6096000"/>
            <a:ext cx="8915400" cy="409575"/>
            <a:chOff x="1600200" y="6096000"/>
            <a:chExt cx="8915400" cy="409575"/>
          </a:xfrm>
        </p:grpSpPr>
        <p:sp>
          <p:nvSpPr>
            <p:cNvPr id="30" name="TextBox 30"/>
            <p:cNvSpPr txBox="1"/>
            <p:nvPr/>
          </p:nvSpPr>
          <p:spPr>
            <a:xfrm>
              <a:off x="1600200" y="6181725"/>
              <a:ext cx="21683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2026年 AI 協作治理簡報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9207" y="848678"/>
            <a:ext cx="10025443" cy="2795016"/>
            <a:chOff x="509207" y="848678"/>
            <a:chExt cx="10025443" cy="2795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9207" y="3399854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WHY IT MATTERS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為什麼值得關注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43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真正左右效率與品質的，不只是模型能力，而是協作規則是否足夠精確。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209800"/>
            <a:ext cx="5524500" cy="3143250"/>
            <a:chOff x="1619250" y="2209800"/>
            <a:chExt cx="55245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09800"/>
              <a:ext cx="5524500" cy="3143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09800"/>
              <a:ext cx="5524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6910" y="2737485"/>
              <a:ext cx="36411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很多團隊導入 AI 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6910" y="321373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先比較模型夠不夠聰明、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6910" y="368998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卻忽略關鍵其實是規則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6910" y="41662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是否清楚。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81200" y="4762500"/>
              <a:ext cx="247650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51448" y="4838224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規則不清，錯誤就會被延後結帳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43750" y="2209800"/>
            <a:ext cx="4051412" cy="3143250"/>
            <a:chOff x="7143750" y="2209800"/>
            <a:chExt cx="4051412" cy="3143250"/>
          </a:xfrm>
        </p:grpSpPr>
        <p:sp>
          <p:nvSpPr>
            <p:cNvPr id="23" name="Rectangle 23"/>
            <p:cNvSpPr/>
            <p:nvPr/>
          </p:nvSpPr>
          <p:spPr>
            <a:xfrm>
              <a:off x="7524750" y="2209800"/>
              <a:ext cx="3048000" cy="3143250"/>
            </a:xfrm>
            <a:prstGeom prst="roundRect">
              <a:avLst>
                <a:gd name="adj" fmla="val 6875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08595" y="2546032"/>
              <a:ext cx="1809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如果沒有規則...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3358" y="30056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AI 會自行補完需求與假設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358" y="3310414"/>
              <a:ext cx="3381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問題會被拖到 review 與維護階段才爆出來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358" y="3615214"/>
              <a:ext cx="2897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表面像加速，實際是在延後付出成本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14375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29" name="Ellipse 29"/>
            <p:cNvSpPr/>
            <p:nvPr/>
          </p:nvSpPr>
          <p:spPr>
            <a:xfrm>
              <a:off x="7467600" y="37338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619250" y="5619750"/>
            <a:ext cx="8953500" cy="514350"/>
            <a:chOff x="1619250" y="5619750"/>
            <a:chExt cx="8953500" cy="514350"/>
          </a:xfrm>
        </p:grpSpPr>
        <p:sp>
          <p:nvSpPr>
            <p:cNvPr id="31" name="Rectangle 31"/>
            <p:cNvSpPr/>
            <p:nvPr/>
          </p:nvSpPr>
          <p:spPr>
            <a:xfrm>
              <a:off x="1619250" y="5619750"/>
              <a:ext cx="8953500" cy="5143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26809" y="5758815"/>
              <a:ext cx="53383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這不是工具選型問題，而是人機協作設計問題。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30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69239" y="848678"/>
            <a:ext cx="9765411" cy="2534983"/>
            <a:chOff x="769239" y="848678"/>
            <a:chExt cx="9765411" cy="2534983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69239" y="3139821"/>
              <a:ext cx="6865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RISK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三個失效點不是平行雜訊，而是會沿著同一條治理鏈一路放大。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2247900"/>
            <a:ext cx="3770257" cy="1112044"/>
            <a:chOff x="1619250" y="2247900"/>
            <a:chExt cx="3770257" cy="1112044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790700" y="25146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 w="14288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59920" y="271176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33850" y="25146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85298" y="257937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未確認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2685" y="25136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假設先驗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41258" y="2872264"/>
              <a:ext cx="29482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需求還沒講清楚時，AI 就先補完假設，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1258" y="31008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讓方向偏差從一開始就被寫進輸出。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19250" y="3467100"/>
            <a:ext cx="3404712" cy="1112044"/>
            <a:chOff x="1619250" y="3467100"/>
            <a:chExt cx="3404712" cy="1112044"/>
          </a:xfrm>
        </p:grpSpPr>
        <p:sp>
          <p:nvSpPr>
            <p:cNvPr id="24" name="Rectangle 24"/>
            <p:cNvSpPr/>
            <p:nvPr/>
          </p:nvSpPr>
          <p:spPr>
            <a:xfrm>
              <a:off x="1619250" y="34671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34671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790700" y="37338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 w="14288">
              <a:solidFill>
                <a:srgbClr val="00905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36292" y="3930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133850" y="37338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45305" y="37985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堆疊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32685" y="37328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過度設計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41258" y="40914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小任務卻先長出抽象層與新架構，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41258" y="43200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把維護成本提前灌進團隊流程。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4686300"/>
            <a:ext cx="3549230" cy="1112044"/>
            <a:chOff x="1619250" y="4686300"/>
            <a:chExt cx="3549230" cy="1112044"/>
          </a:xfrm>
        </p:grpSpPr>
        <p:sp>
          <p:nvSpPr>
            <p:cNvPr id="34" name="Rectangle 34"/>
            <p:cNvSpPr/>
            <p:nvPr/>
          </p:nvSpPr>
          <p:spPr>
            <a:xfrm>
              <a:off x="1619250" y="46863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619250" y="46863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790700" y="49530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 w="14288">
              <a:solidFill>
                <a:srgbClr val="3BBB8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36292" y="51501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33850" y="49530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45305" y="50177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擴散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32685" y="4952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附帶修改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41258" y="53106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本來只修局部，最後卻把無關區塊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41258" y="5539264"/>
              <a:ext cx="27272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一併改掉，讓 review 焦點被稀釋。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972050" y="2781300"/>
            <a:ext cx="2324100" cy="2438400"/>
            <a:chOff x="4972050" y="2781300"/>
            <a:chExt cx="2324100" cy="2438400"/>
          </a:xfrm>
        </p:grpSpPr>
        <p:sp>
          <p:nvSpPr>
            <p:cNvPr id="44" name="Freeform 44"/>
            <p:cNvSpPr/>
            <p:nvPr/>
          </p:nvSpPr>
          <p:spPr>
            <a:xfrm>
              <a:off x="4972050" y="27813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0"/>
                  </a:moveTo>
                  <a:lnTo>
                    <a:pt x="361950" y="0"/>
                  </a:lnTo>
                  <a:lnTo>
                    <a:pt x="361950" y="1219200"/>
                  </a:lnTo>
                  <a:lnTo>
                    <a:pt x="600075" y="1219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5" name="Freeform 45"/>
            <p:cNvSpPr/>
            <p:nvPr/>
          </p:nvSpPr>
          <p:spPr>
            <a:xfrm>
              <a:off x="4972050" y="4000500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6" name="Freeform 46"/>
            <p:cNvSpPr/>
            <p:nvPr/>
          </p:nvSpPr>
          <p:spPr>
            <a:xfrm>
              <a:off x="4972050" y="40005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1219200"/>
                  </a:moveTo>
                  <a:lnTo>
                    <a:pt x="361950" y="1219200"/>
                  </a:lnTo>
                  <a:lnTo>
                    <a:pt x="361950" y="0"/>
                  </a:lnTo>
                  <a:lnTo>
                    <a:pt x="600075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7" name="Line 47"/>
            <p:cNvSpPr/>
            <p:nvPr/>
          </p:nvSpPr>
          <p:spPr>
            <a:xfrm>
              <a:off x="6810375" y="4000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8" name="Ellipse 48"/>
            <p:cNvSpPr/>
            <p:nvPr/>
          </p:nvSpPr>
          <p:spPr>
            <a:xfrm>
              <a:off x="5514975" y="39433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181850" y="39433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572125" y="3657600"/>
              <a:ext cx="1238250" cy="685800"/>
            </a:xfrm>
            <a:prstGeom prst="roundRect">
              <a:avLst>
                <a:gd name="adj" fmla="val 22222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39790" y="3789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共通效應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08237" y="39652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治理失焦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239000" y="2362200"/>
            <a:ext cx="4027551" cy="3390900"/>
            <a:chOff x="7239000" y="2362200"/>
            <a:chExt cx="4027551" cy="3390900"/>
          </a:xfrm>
        </p:grpSpPr>
        <p:sp>
          <p:nvSpPr>
            <p:cNvPr id="54" name="Rectangle 54"/>
            <p:cNvSpPr/>
            <p:nvPr/>
          </p:nvSpPr>
          <p:spPr>
            <a:xfrm>
              <a:off x="7239000" y="2362200"/>
              <a:ext cx="3333750" cy="3390900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39000" y="2362200"/>
              <a:ext cx="3333750" cy="666750"/>
            </a:xfrm>
            <a:prstGeom prst="roundRect">
              <a:avLst>
                <a:gd name="adj" fmla="val 31429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524750" y="255270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266700" y="250031"/>
                  </a:moveTo>
                  <a:lnTo>
                    <a:pt x="0" y="250031"/>
                  </a:lnTo>
                  <a:lnTo>
                    <a:pt x="0" y="200025"/>
                  </a:lnTo>
                  <a:lnTo>
                    <a:pt x="116681" y="0"/>
                  </a:lnTo>
                  <a:lnTo>
                    <a:pt x="150019" y="0"/>
                  </a:lnTo>
                  <a:lnTo>
                    <a:pt x="266700" y="200025"/>
                  </a:lnTo>
                  <a:lnTo>
                    <a:pt x="266700" y="250031"/>
                  </a:lnTo>
                  <a:close/>
                  <a:moveTo>
                    <a:pt x="116681" y="66675"/>
                  </a:moveTo>
                  <a:lnTo>
                    <a:pt x="150019" y="66675"/>
                  </a:lnTo>
                  <a:lnTo>
                    <a:pt x="150019" y="150019"/>
                  </a:lnTo>
                  <a:lnTo>
                    <a:pt x="116681" y="150019"/>
                  </a:lnTo>
                  <a:lnTo>
                    <a:pt x="116681" y="66675"/>
                  </a:lnTo>
                  <a:close/>
                  <a:moveTo>
                    <a:pt x="116681" y="183356"/>
                  </a:moveTo>
                  <a:lnTo>
                    <a:pt x="150019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116681" y="183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01940" y="25584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共同後果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486650" y="32194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08175" y="33427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41945" y="3155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方向偏差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47660" y="3451860"/>
              <a:ext cx="29348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AI 從第一步就走歪，後續修正都在補救。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486650" y="396240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08175" y="408574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41945" y="3898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維護膨脹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47660" y="41948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多餘架構和擴散修改一起累積技術負債。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486650" y="47053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08175" y="48286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4641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審查變慢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47660" y="4937760"/>
              <a:ext cx="33188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review 被迫先清噪音，再找真正重要的差異。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486650" y="5295900"/>
              <a:ext cx="2838450" cy="2857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95865" y="5373052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三者疊加後，成本不是相加，而是連鎖放大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604010" y="6061710"/>
            <a:ext cx="6319266" cy="243840"/>
            <a:chOff x="1604010" y="6061710"/>
            <a:chExt cx="6319266" cy="243840"/>
          </a:xfrm>
        </p:grpSpPr>
        <p:sp>
          <p:nvSpPr>
            <p:cNvPr id="73" name="TextBox 73"/>
            <p:cNvSpPr txBox="1"/>
            <p:nvPr/>
          </p:nvSpPr>
          <p:spPr>
            <a:xfrm>
              <a:off x="1604010" y="6061710"/>
              <a:ext cx="6319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先偏方向，再放大維護，最後把 review 變成噪音清理，這就是 AI 協作最常見的失焦鏈。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3" grpId="0"/>
      <p:bldP spid="53" grpId="0"/>
      <p:bldP spid="72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33235" y="848678"/>
            <a:ext cx="9801415" cy="2570988"/>
            <a:chOff x="733235" y="848678"/>
            <a:chExt cx="9801415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COST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這件事的成本，會同時落在工程執行端與管理判斷端。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9250" y="2190750"/>
            <a:ext cx="704850" cy="3448050"/>
            <a:chOff x="1619250" y="2190750"/>
            <a:chExt cx="704850" cy="34480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90750"/>
              <a:ext cx="704850" cy="3448050"/>
            </a:xfrm>
            <a:prstGeom prst="rect">
              <a:avLst/>
            </a:prstGeom>
            <a:solidFill>
              <a:srgbClr val="F3FC78"/>
            </a:solidFill>
            <a:ln w="9525">
              <a:solidFill>
                <a:srgbClr val="F3F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50712" y="2490788"/>
              <a:ext cx="6228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09056"/>
                  </a:solidFill>
                  <a:latin typeface="Arial"/>
                  <a:ea typeface="Microsoft YaHei"/>
                  <a:cs typeface="Arial"/>
                </a:rPr>
                <a:t>DIRECT COST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76733" y="31903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9056"/>
                  </a:solidFill>
                  <a:latin typeface="Arial"/>
                  <a:ea typeface="Microsoft JhengHei"/>
                  <a:cs typeface="Arial"/>
                </a:rPr>
                <a:t>成本不是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76733" y="33618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9056"/>
                  </a:solidFill>
                  <a:latin typeface="Arial"/>
                  <a:ea typeface="Microsoft JhengHei"/>
                  <a:cs typeface="Arial"/>
                </a:rPr>
                <a:t>單點問題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76733" y="35332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9056"/>
                  </a:solidFill>
                  <a:latin typeface="Arial"/>
                  <a:ea typeface="Microsoft JhengHei"/>
                  <a:cs typeface="Arial"/>
                </a:rPr>
                <a:t>而是層層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76733" y="3704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9056"/>
                  </a:solidFill>
                  <a:latin typeface="Arial"/>
                  <a:ea typeface="Microsoft JhengHei"/>
                  <a:cs typeface="Arial"/>
                </a:rPr>
                <a:t>加總結果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552700" y="2190750"/>
            <a:ext cx="3760470" cy="3448050"/>
            <a:chOff x="2552700" y="2190750"/>
            <a:chExt cx="3760470" cy="3448050"/>
          </a:xfrm>
        </p:grpSpPr>
        <p:sp>
          <p:nvSpPr>
            <p:cNvPr id="21" name="Rectangle 21"/>
            <p:cNvSpPr/>
            <p:nvPr/>
          </p:nvSpPr>
          <p:spPr>
            <a:xfrm>
              <a:off x="2552700" y="2190750"/>
              <a:ext cx="3467100" cy="3448050"/>
            </a:xfrm>
            <a:prstGeom prst="roundRect">
              <a:avLst>
                <a:gd name="adj" fmla="val 5525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686050" y="2362200"/>
              <a:ext cx="419100" cy="4191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771775" y="2463403"/>
              <a:ext cx="247650" cy="216694"/>
              <a:chOff x="2771775" y="2463403"/>
              <a:chExt cx="247650" cy="21669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818209" y="2463403"/>
                <a:ext cx="77391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77391" h="77391">
                    <a:moveTo>
                      <a:pt x="77391" y="38695"/>
                    </a:moveTo>
                    <a:cubicBezTo>
                      <a:pt x="77391" y="60066"/>
                      <a:pt x="60066" y="77391"/>
                      <a:pt x="38695" y="77391"/>
                    </a:cubicBezTo>
                    <a:cubicBezTo>
                      <a:pt x="17325" y="77391"/>
                      <a:pt x="0" y="60066"/>
                      <a:pt x="0" y="38695"/>
                    </a:cubicBezTo>
                    <a:cubicBezTo>
                      <a:pt x="0" y="17325"/>
                      <a:pt x="17325" y="0"/>
                      <a:pt x="38695" y="0"/>
                    </a:cubicBezTo>
                    <a:cubicBezTo>
                      <a:pt x="60066" y="0"/>
                      <a:pt x="77391" y="17325"/>
                      <a:pt x="77391" y="386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771775" y="2571750"/>
                <a:ext cx="123825" cy="108347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08347">
                    <a:moveTo>
                      <a:pt x="46434" y="0"/>
                    </a:moveTo>
                    <a:cubicBezTo>
                      <a:pt x="20789" y="0"/>
                      <a:pt x="0" y="20789"/>
                      <a:pt x="0" y="46434"/>
                    </a:cubicBezTo>
                    <a:lnTo>
                      <a:pt x="0" y="108347"/>
                    </a:lnTo>
                    <a:lnTo>
                      <a:pt x="123825" y="108347"/>
                    </a:lnTo>
                    <a:lnTo>
                      <a:pt x="123825" y="0"/>
                    </a:lnTo>
                    <a:lnTo>
                      <a:pt x="464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26556" y="2571750"/>
                <a:ext cx="92869" cy="108347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108347">
                    <a:moveTo>
                      <a:pt x="46434" y="0"/>
                    </a:moveTo>
                    <a:lnTo>
                      <a:pt x="0" y="0"/>
                    </a:lnTo>
                    <a:lnTo>
                      <a:pt x="0" y="108347"/>
                    </a:lnTo>
                    <a:lnTo>
                      <a:pt x="92869" y="108347"/>
                    </a:lnTo>
                    <a:lnTo>
                      <a:pt x="92869" y="46434"/>
                    </a:lnTo>
                    <a:cubicBezTo>
                      <a:pt x="92869" y="20789"/>
                      <a:pt x="72080" y="0"/>
                      <a:pt x="464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926556" y="247888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30956" y="61912"/>
                    </a:move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59" y="0"/>
                      <a:pt x="0" y="13860"/>
                      <a:pt x="0" y="30956"/>
                    </a:cubicBezTo>
                    <a:cubicBezTo>
                      <a:pt x="0" y="48053"/>
                      <a:pt x="13859" y="61912"/>
                      <a:pt x="30956" y="619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3196590" y="24536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工程端的直接影響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00350" y="2857500"/>
              <a:ext cx="8763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33461" y="2930366"/>
              <a:ext cx="610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TEAM COST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800350" y="3276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14288">
              <a:solidFill>
                <a:srgbClr val="D9D9D9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800350" y="3448050"/>
              <a:ext cx="304800" cy="304800"/>
            </a:xfrm>
            <a:prstGeom prst="ellipse">
              <a:avLst/>
            </a:prstGeom>
            <a:solidFill>
              <a:srgbClr val="6EDA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906666" y="35604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02305" y="33975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方向修正時間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06115" y="3639502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工程師必須反覆把 AI 拉回正確問題定義。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2800350" y="4114800"/>
              <a:ext cx="304800" cy="304800"/>
            </a:xfrm>
            <a:prstGeom prst="ellipse">
              <a:avLst/>
            </a:prstGeom>
            <a:solidFill>
              <a:srgbClr val="3BBB8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06666" y="42271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02305" y="4064318"/>
              <a:ext cx="1461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review 清噪時間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06115" y="43062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審查先要辨識哪些改動重要，哪些只是噪音。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2800350" y="4781550"/>
              <a:ext cx="304800" cy="304800"/>
            </a:xfrm>
            <a:prstGeom prst="ellipse">
              <a:avLst/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906666" y="48939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02305" y="4731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維護與重工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06115" y="49730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補丁與附帶修改累積後，長尾維護成本同步上升。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19800" y="2495550"/>
            <a:ext cx="1657350" cy="2857500"/>
            <a:chOff x="6019800" y="2495550"/>
            <a:chExt cx="1657350" cy="2857500"/>
          </a:xfrm>
        </p:grpSpPr>
        <p:sp>
          <p:nvSpPr>
            <p:cNvPr id="45" name="Rectangle 45"/>
            <p:cNvSpPr/>
            <p:nvPr/>
          </p:nvSpPr>
          <p:spPr>
            <a:xfrm>
              <a:off x="6267450" y="2495550"/>
              <a:ext cx="1066800" cy="28575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07480" y="3163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共同壓力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0143" y="34880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80143" y="38309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成本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70418" y="4360545"/>
              <a:ext cx="860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process drift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019800" y="3924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51" name="Line 51"/>
            <p:cNvSpPr/>
            <p:nvPr/>
          </p:nvSpPr>
          <p:spPr>
            <a:xfrm>
              <a:off x="7334250" y="3924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52" name="Ellipse 52"/>
            <p:cNvSpPr/>
            <p:nvPr/>
          </p:nvSpPr>
          <p:spPr>
            <a:xfrm>
              <a:off x="6210300" y="3867150"/>
              <a:ext cx="114300" cy="114300"/>
            </a:xfrm>
            <a:prstGeom prst="ellipse">
              <a:avLst/>
            </a:prstGeom>
            <a:solidFill>
              <a:srgbClr val="AFABAB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562850" y="38671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7620000" y="2190750"/>
            <a:ext cx="3621405" cy="3448050"/>
            <a:chOff x="7620000" y="2190750"/>
            <a:chExt cx="3621405" cy="3448050"/>
          </a:xfrm>
        </p:grpSpPr>
        <p:sp>
          <p:nvSpPr>
            <p:cNvPr id="55" name="Rectangle 55"/>
            <p:cNvSpPr/>
            <p:nvPr/>
          </p:nvSpPr>
          <p:spPr>
            <a:xfrm>
              <a:off x="7620000" y="2190750"/>
              <a:ext cx="2952750" cy="34480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753350" y="2362200"/>
              <a:ext cx="419100" cy="4191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839075" y="2463403"/>
              <a:ext cx="247649" cy="216694"/>
              <a:chOff x="7839075" y="2463403"/>
              <a:chExt cx="247649" cy="216694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024812" y="2463403"/>
                <a:ext cx="61912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216694">
                    <a:moveTo>
                      <a:pt x="61912" y="0"/>
                    </a:moveTo>
                    <a:lnTo>
                      <a:pt x="0" y="0"/>
                    </a:lnTo>
                    <a:lnTo>
                      <a:pt x="0" y="216694"/>
                    </a:lnTo>
                    <a:lnTo>
                      <a:pt x="61912" y="216694"/>
                    </a:lnTo>
                    <a:lnTo>
                      <a:pt x="619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931944" y="2525316"/>
                <a:ext cx="61912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54781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154781"/>
                    </a:lnTo>
                    <a:lnTo>
                      <a:pt x="0" y="1547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839075" y="2587228"/>
                <a:ext cx="619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2869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92869"/>
                    </a:lnTo>
                    <a:lnTo>
                      <a:pt x="0" y="92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263890" y="24536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管理端看到的訊號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867650" y="2857500"/>
              <a:ext cx="108585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65843" y="2930366"/>
              <a:ext cx="10894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MANAGEMENT SIGNAL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867650" y="327660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14288">
              <a:solidFill>
                <a:srgbClr val="D9D9D9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851458" y="3424714"/>
              <a:ext cx="1656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1. 問題不是單一 bug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54315" y="365855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主管真正要處理的是流程治理缺口，而不是個別失誤。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51458" y="4053364"/>
              <a:ext cx="188901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2. 錯誤會在流程裡擴散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54315" y="4287202"/>
              <a:ext cx="32470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沒有治理機制時，方向偏差會一路佔用後續注意力。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51458" y="4682014"/>
              <a:ext cx="17104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3. 規則必須前置設計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54315" y="49158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工具越普及，越不能把治理留到事後補強。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867650" y="5219700"/>
              <a:ext cx="2457450" cy="2476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013811" y="5293995"/>
              <a:ext cx="21651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核心議題是流程控制，不只是模型表現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19250" y="5905500"/>
            <a:ext cx="8953500" cy="400050"/>
            <a:chOff x="1619250" y="5905500"/>
            <a:chExt cx="8953500" cy="400050"/>
          </a:xfrm>
        </p:grpSpPr>
        <p:sp>
          <p:nvSpPr>
            <p:cNvPr id="74" name="Rectangle 74"/>
            <p:cNvSpPr/>
            <p:nvPr/>
          </p:nvSpPr>
          <p:spPr>
            <a:xfrm>
              <a:off x="1619250" y="5905500"/>
              <a:ext cx="895350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851660" y="6023610"/>
              <a:ext cx="7231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真正昂貴的不是偶發錯誤，而是錯誤一旦沒有治理，就會從工程端一路傳到管理端，形成持續性成本。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4" grpId="0"/>
      <p:bldP spid="54" grpId="0"/>
      <p:bldP spid="73" grpId="0"/>
      <p:bldP spid="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1206" y="848678"/>
            <a:ext cx="10033444" cy="2803016"/>
            <a:chOff x="501206" y="848678"/>
            <a:chExt cx="10033444" cy="2803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1206" y="3407854"/>
              <a:ext cx="1222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SOLUTION 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社群給出的解法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核心做法很直接：先把高價值協作規則寫進提示詞與工作流程。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19250" y="2038350"/>
            <a:ext cx="8858250" cy="400050"/>
            <a:chOff x="1619250" y="2038350"/>
            <a:chExt cx="8858250" cy="4000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038350"/>
              <a:ext cx="8858250" cy="400050"/>
            </a:xfrm>
            <a:prstGeom prst="roundRect">
              <a:avLst>
                <a:gd name="adj" fmla="val 42857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47850" y="2133600"/>
              <a:ext cx="64333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社群解法的共通點：先把 AI 邊界寫進提示詞與工作流程，再談擴張。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71700" y="3619500"/>
            <a:ext cx="7810500" cy="666750"/>
            <a:chOff x="2171700" y="3619500"/>
            <a:chExt cx="7810500" cy="666750"/>
          </a:xfrm>
        </p:grpSpPr>
        <p:sp>
          <p:nvSpPr>
            <p:cNvPr id="17" name="Line 17"/>
            <p:cNvSpPr/>
            <p:nvPr/>
          </p:nvSpPr>
          <p:spPr>
            <a:xfrm>
              <a:off x="2171700" y="3733800"/>
              <a:ext cx="7810500" cy="9525"/>
            </a:xfrm>
            <a:custGeom>
              <a:avLst/>
              <a:gdLst/>
              <a:ahLst/>
              <a:cxnLst/>
              <a:rect l="l" t="t" r="r" b="b"/>
              <a:pathLst>
                <a:path w="7810500" h="9525">
                  <a:moveTo>
                    <a:pt x="0" y="0"/>
                  </a:moveTo>
                  <a:lnTo>
                    <a:pt x="7810500" y="0"/>
                  </a:lnTo>
                </a:path>
              </a:pathLst>
            </a:custGeom>
            <a:noFill/>
            <a:ln w="38100">
              <a:solidFill>
                <a:srgbClr val="D9D9D9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5146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7625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0104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258300" y="365760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2590800" y="36195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4838700" y="37338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4" name="Line 24"/>
            <p:cNvSpPr/>
            <p:nvPr/>
          </p:nvSpPr>
          <p:spPr>
            <a:xfrm>
              <a:off x="7086600" y="36195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9334500" y="37338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695450" y="2514600"/>
            <a:ext cx="1790700" cy="1104900"/>
            <a:chOff x="1695450" y="2514600"/>
            <a:chExt cx="1790700" cy="1104900"/>
          </a:xfrm>
        </p:grpSpPr>
        <p:sp>
          <p:nvSpPr>
            <p:cNvPr id="27" name="Rectangle 27"/>
            <p:cNvSpPr/>
            <p:nvPr/>
          </p:nvSpPr>
          <p:spPr>
            <a:xfrm>
              <a:off x="1695450" y="2514600"/>
              <a:ext cx="1790700" cy="1104900"/>
            </a:xfrm>
            <a:prstGeom prst="roundRect">
              <a:avLst>
                <a:gd name="adj" fmla="val 1551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13572" y="2644616"/>
              <a:ext cx="3443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04048" y="28208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寫清邊界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11668" y="30760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把能做、不能做與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11668" y="32284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不確定時先停下確認。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24050" y="3371850"/>
              <a:ext cx="1295400" cy="1714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47186" y="3414712"/>
              <a:ext cx="6491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先收斂自由度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943350" y="4286250"/>
            <a:ext cx="2202180" cy="1143000"/>
            <a:chOff x="3943350" y="4286250"/>
            <a:chExt cx="2202180" cy="1143000"/>
          </a:xfrm>
        </p:grpSpPr>
        <p:sp>
          <p:nvSpPr>
            <p:cNvPr id="35" name="Rectangle 35"/>
            <p:cNvSpPr/>
            <p:nvPr/>
          </p:nvSpPr>
          <p:spPr>
            <a:xfrm>
              <a:off x="3943350" y="4286250"/>
              <a:ext cx="17907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61472" y="4435316"/>
              <a:ext cx="3732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50042" y="46524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設停損點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58615" y="49730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需求不清先問、方向不明先停，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58615" y="5163502"/>
              <a:ext cx="1769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不要讓 AI 直接猜完再執行。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71950" y="5181600"/>
              <a:ext cx="1295400" cy="2095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04872" y="5235416"/>
              <a:ext cx="829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把偏差攔在前段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91250" y="2514600"/>
            <a:ext cx="1790700" cy="1104900"/>
            <a:chOff x="6191250" y="2514600"/>
            <a:chExt cx="1790700" cy="1104900"/>
          </a:xfrm>
        </p:grpSpPr>
        <p:sp>
          <p:nvSpPr>
            <p:cNvPr id="43" name="Rectangle 43"/>
            <p:cNvSpPr/>
            <p:nvPr/>
          </p:nvSpPr>
          <p:spPr>
            <a:xfrm>
              <a:off x="6191250" y="2514600"/>
              <a:ext cx="1790700" cy="1104900"/>
            </a:xfrm>
            <a:prstGeom prst="roundRect">
              <a:avLst>
                <a:gd name="adj" fmla="val 1551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09372" y="2644616"/>
              <a:ext cx="3732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9848" y="28208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綁定驗收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07468" y="30760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把測試、檢查與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07468" y="32284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完成定義一起寫進流程。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19850" y="3371850"/>
              <a:ext cx="1295400" cy="1714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2986" y="3414712"/>
              <a:ext cx="6491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讓輸出可驗證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39150" y="4286250"/>
            <a:ext cx="2062163" cy="1143000"/>
            <a:chOff x="8439150" y="4286250"/>
            <a:chExt cx="2062163" cy="1143000"/>
          </a:xfrm>
        </p:grpSpPr>
        <p:sp>
          <p:nvSpPr>
            <p:cNvPr id="51" name="Rectangle 51"/>
            <p:cNvSpPr/>
            <p:nvPr/>
          </p:nvSpPr>
          <p:spPr>
            <a:xfrm>
              <a:off x="8439150" y="4286250"/>
              <a:ext cx="17907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57272" y="4435316"/>
              <a:ext cx="3732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45842" y="46524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逐步擴大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4415" y="49730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先穩住高價值場景，再把規則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4415" y="51635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複製到更多任務與團隊。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667750" y="5181600"/>
              <a:ext cx="1295400" cy="20955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00672" y="5235416"/>
              <a:ext cx="829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低成本、可持續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19250" y="5657850"/>
            <a:ext cx="8858250" cy="516731"/>
            <a:chOff x="1619250" y="5657850"/>
            <a:chExt cx="8858250" cy="516731"/>
          </a:xfrm>
        </p:grpSpPr>
        <p:sp>
          <p:nvSpPr>
            <p:cNvPr id="59" name="Rectangle 59"/>
            <p:cNvSpPr/>
            <p:nvPr/>
          </p:nvSpPr>
          <p:spPr>
            <a:xfrm>
              <a:off x="1619250" y="5657850"/>
              <a:ext cx="8858250" cy="514350"/>
            </a:xfrm>
            <a:prstGeom prst="roundRect">
              <a:avLst>
                <a:gd name="adj" fmla="val 2963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835468" y="576214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JhengHei"/>
                  <a:cs typeface="Arial"/>
                </a:rPr>
                <a:t>為什麼這種方法會快速累積關注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833562" y="5945981"/>
              <a:ext cx="72969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因為它不要求先升級模型或重建大型基礎設施，而是先用規則讓 AI 的行為可被管理，再把穩定做法擴散出去。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4" grpId="0"/>
      <p:bldP spid="42" grpId="0"/>
      <p:bldP spid="50" grpId="0"/>
      <p:bldP spid="58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69214" y="848678"/>
            <a:ext cx="9965436" cy="2735008"/>
            <a:chOff x="569214" y="848678"/>
            <a:chExt cx="9965436" cy="273500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69214" y="3339846"/>
              <a:ext cx="10866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PRINCIPLE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四個原則不是口號，而是可以直接映射成團隊管理要求。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02105" y="1962150"/>
            <a:ext cx="7324534" cy="338138"/>
            <a:chOff x="1602105" y="1962150"/>
            <a:chExt cx="7324534" cy="338138"/>
          </a:xfrm>
        </p:grpSpPr>
        <p:sp>
          <p:nvSpPr>
            <p:cNvPr id="14" name="TextBox 14"/>
            <p:cNvSpPr txBox="1"/>
            <p:nvPr/>
          </p:nvSpPr>
          <p:spPr>
            <a:xfrm>
              <a:off x="1602105" y="2025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原則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7255" y="2025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意圖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05600" y="196215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4588" y="20459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治理映射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36255" y="20259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管理要求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19250" y="2343150"/>
            <a:ext cx="9035415" cy="762000"/>
            <a:chOff x="1619250" y="2343150"/>
            <a:chExt cx="9035415" cy="762000"/>
          </a:xfrm>
        </p:grpSpPr>
        <p:sp>
          <p:nvSpPr>
            <p:cNvPr id="20" name="Rectangle 20"/>
            <p:cNvSpPr/>
            <p:nvPr/>
          </p:nvSpPr>
          <p:spPr>
            <a:xfrm>
              <a:off x="1619250" y="2343150"/>
              <a:ext cx="2647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771650" y="25336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91748" y="2676049"/>
              <a:ext cx="1408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52662" y="2536031"/>
              <a:ext cx="15171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Think Before Coding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5520" y="2779395"/>
              <a:ext cx="21831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需求未清楚前先確認，避免方向性錯誤。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33900" y="2343150"/>
              <a:ext cx="1885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29162" y="2536031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先澄清、再執行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2020" y="2779395"/>
              <a:ext cx="2357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要求 AI 先指出不確定處，而不是直接補完。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419850" y="27241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29" name="Ellipse 29"/>
            <p:cNvSpPr/>
            <p:nvPr/>
          </p:nvSpPr>
          <p:spPr>
            <a:xfrm>
              <a:off x="7229475" y="26670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096250" y="26670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53400" y="2343150"/>
              <a:ext cx="24193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48662" y="2536031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模糊需求先澄清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51520" y="2779395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沒有明確問題定義，就不進入執行與提交。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19250" y="3219450"/>
            <a:ext cx="9035415" cy="762000"/>
            <a:chOff x="1619250" y="3219450"/>
            <a:chExt cx="9035415" cy="762000"/>
          </a:xfrm>
        </p:grpSpPr>
        <p:sp>
          <p:nvSpPr>
            <p:cNvPr id="35" name="Rectangle 35"/>
            <p:cNvSpPr/>
            <p:nvPr/>
          </p:nvSpPr>
          <p:spPr>
            <a:xfrm>
              <a:off x="1619250" y="3219450"/>
              <a:ext cx="2647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771650" y="34099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74683" y="3552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52662" y="3412331"/>
              <a:ext cx="15880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No Over-engineering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55520" y="3655695"/>
              <a:ext cx="2423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只做當下需要的解法，不為假想未來堆架構。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33900" y="3219450"/>
              <a:ext cx="1885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29162" y="34123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最小可用解法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32020" y="36556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先解決現在的問題，再處理想像中的未來需求。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419850" y="36004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44" name="Ellipse 44"/>
            <p:cNvSpPr/>
            <p:nvPr/>
          </p:nvSpPr>
          <p:spPr>
            <a:xfrm>
              <a:off x="7229475" y="3543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096250" y="3543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53400" y="3219450"/>
              <a:ext cx="24193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48662" y="3412331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禁止預先堆架構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51520" y="3655695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先控制維護成本，再考慮額外彈性與抽象。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619250" y="4095750"/>
            <a:ext cx="9257443" cy="762000"/>
            <a:chOff x="1619250" y="4095750"/>
            <a:chExt cx="9257443" cy="762000"/>
          </a:xfrm>
        </p:grpSpPr>
        <p:sp>
          <p:nvSpPr>
            <p:cNvPr id="50" name="Rectangle 50"/>
            <p:cNvSpPr/>
            <p:nvPr/>
          </p:nvSpPr>
          <p:spPr>
            <a:xfrm>
              <a:off x="1619250" y="4095750"/>
              <a:ext cx="2647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771650" y="42862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74683" y="44286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52662" y="4202906"/>
              <a:ext cx="721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Targeted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52662" y="4355306"/>
              <a:ext cx="10682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Modifications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255520" y="46081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只改與任務直接相關的程式碼，避免修一帶十。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533900" y="4095750"/>
              <a:ext cx="1885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29162" y="4288631"/>
              <a:ext cx="1265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維持 review 焦點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32020" y="4531995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讓差異集中在任務本身，而不是周邊噪音。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419850" y="44767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60" name="Ellipse 60"/>
            <p:cNvSpPr/>
            <p:nvPr/>
          </p:nvSpPr>
          <p:spPr>
            <a:xfrm>
              <a:off x="7229475" y="44196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096250" y="44196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095750"/>
              <a:ext cx="24193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48662" y="4288631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禁止順手擴散修改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51520" y="4531995"/>
              <a:ext cx="2525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保護 review 焦點，讓重要差異能被清楚判讀。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619250" y="4972050"/>
            <a:ext cx="8953500" cy="762000"/>
            <a:chOff x="1619250" y="4972050"/>
            <a:chExt cx="8953500" cy="762000"/>
          </a:xfrm>
        </p:grpSpPr>
        <p:sp>
          <p:nvSpPr>
            <p:cNvPr id="66" name="Rectangle 66"/>
            <p:cNvSpPr/>
            <p:nvPr/>
          </p:nvSpPr>
          <p:spPr>
            <a:xfrm>
              <a:off x="1619250" y="4972050"/>
              <a:ext cx="2647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771650" y="5162550"/>
              <a:ext cx="381000" cy="3810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874683" y="53049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252662" y="5079206"/>
              <a:ext cx="1217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Outcome-based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252662" y="5231606"/>
              <a:ext cx="768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Execution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255520" y="5484495"/>
              <a:ext cx="2423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用可驗證結果驅動交付，而不是只看產出量。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533900" y="4972050"/>
              <a:ext cx="18859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729162" y="51649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驗收先於提交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732020" y="5408295"/>
              <a:ext cx="2237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先定義測試與檢查，再要求 AI 開始輸出。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6419850" y="535305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76" name="Ellipse 76"/>
            <p:cNvSpPr/>
            <p:nvPr/>
          </p:nvSpPr>
          <p:spPr>
            <a:xfrm>
              <a:off x="7229475" y="52959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8096250" y="52959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153400" y="4972050"/>
              <a:ext cx="241935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348662" y="5164931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優先要求可驗證成果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51520" y="5408295"/>
              <a:ext cx="21831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測試、檢查與完成定義要先於自由發揮。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619250" y="5772150"/>
            <a:ext cx="8953500" cy="535781"/>
            <a:chOff x="1619250" y="5772150"/>
            <a:chExt cx="8953500" cy="535781"/>
          </a:xfrm>
        </p:grpSpPr>
        <p:sp>
          <p:nvSpPr>
            <p:cNvPr id="82" name="Rectangle 82"/>
            <p:cNvSpPr/>
            <p:nvPr/>
          </p:nvSpPr>
          <p:spPr>
            <a:xfrm>
              <a:off x="1619250" y="5772150"/>
              <a:ext cx="8953500" cy="533400"/>
            </a:xfrm>
            <a:prstGeom prst="roundRect">
              <a:avLst>
                <a:gd name="adj" fmla="val 2500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854518" y="5885974"/>
              <a:ext cx="39632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JhengHei"/>
                  <a:cs typeface="Arial"/>
                </a:rPr>
                <a:t>管理上真正要落地的不是抽象原則，而是可被 review 的操作要求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852612" y="6079331"/>
              <a:ext cx="58793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當原則被寫進提示詞、要求被寫進 review 與驗收，AI 才會從自由發揮轉成可治理流程。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4" grpId="0"/>
      <p:bldP spid="49" grpId="0"/>
      <p:bldP spid="65" grpId="0"/>
      <p:bldP spid="81" grpId="0"/>
      <p:bldP spid="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真正可規模化的能力，來自清楚規則、可驗證結果，以及共同的修改紀律。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1924050"/>
            <a:chOff x="1619250" y="2247900"/>
            <a:chExt cx="8953500" cy="19240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1924050"/>
            </a:xfrm>
            <a:prstGeom prst="roundRect">
              <a:avLst>
                <a:gd name="adj" fmla="val 1089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39378"/>
              <a:ext cx="415293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可規模化的 AI 開發流程，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09657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不是建立在更強的自動化幻覺上，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53778"/>
              <a:ext cx="68486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而是建立在更明確的規則、驗證與邊界上。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495800"/>
            <a:ext cx="2914269" cy="1047750"/>
            <a:chOff x="1619250" y="4495800"/>
            <a:chExt cx="2914269" cy="1047750"/>
          </a:xfrm>
        </p:grpSpPr>
        <p:sp>
          <p:nvSpPr>
            <p:cNvPr id="20" name="Rectangle 20"/>
            <p:cNvSpPr/>
            <p:nvPr/>
          </p:nvSpPr>
          <p:spPr>
            <a:xfrm>
              <a:off x="16192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74520" y="4665345"/>
              <a:ext cx="369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RULES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592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0710" y="5261610"/>
              <a:ext cx="2662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先講清楚 AI 能做什麼、不能做什麼。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43450" y="4495800"/>
            <a:ext cx="3002280" cy="1047750"/>
            <a:chOff x="4743450" y="4495800"/>
            <a:chExt cx="3002280" cy="1047750"/>
          </a:xfrm>
        </p:grpSpPr>
        <p:sp>
          <p:nvSpPr>
            <p:cNvPr id="25" name="Rectangle 25"/>
            <p:cNvSpPr/>
            <p:nvPr/>
          </p:nvSpPr>
          <p:spPr>
            <a:xfrm>
              <a:off x="47434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98720" y="4665345"/>
              <a:ext cx="7852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VERIFICATION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834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驗證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4910" y="52616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先定義如何檢查，才知道何時算完成。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67650" y="4495800"/>
            <a:ext cx="3026283" cy="1047750"/>
            <a:chOff x="7867650" y="4495800"/>
            <a:chExt cx="3026283" cy="1047750"/>
          </a:xfrm>
        </p:grpSpPr>
        <p:sp>
          <p:nvSpPr>
            <p:cNvPr id="30" name="Rectangle 30"/>
            <p:cNvSpPr/>
            <p:nvPr/>
          </p:nvSpPr>
          <p:spPr>
            <a:xfrm>
              <a:off x="7867650" y="4495800"/>
              <a:ext cx="2705100" cy="1047750"/>
            </a:xfrm>
            <a:prstGeom prst="roundRect">
              <a:avLst>
                <a:gd name="adj" fmla="val 18182"/>
              </a:avLst>
            </a:prstGeom>
            <a:solidFill>
              <a:srgbClr val="00905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22920" y="4665345"/>
              <a:ext cx="7096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BOUNDARIES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76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19110" y="526161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先守住修改範圍，AI 才能被持續管理。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00200" y="6019800"/>
            <a:ext cx="8915400" cy="409575"/>
            <a:chOff x="1600200" y="6019800"/>
            <a:chExt cx="8915400" cy="409575"/>
          </a:xfrm>
        </p:grpSpPr>
        <p:sp>
          <p:nvSpPr>
            <p:cNvPr id="35" name="TextBox 35"/>
            <p:cNvSpPr txBox="1"/>
            <p:nvPr/>
          </p:nvSpPr>
          <p:spPr>
            <a:xfrm>
              <a:off x="1600200" y="6029325"/>
              <a:ext cx="6191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Use AI well, not just often. Rules turn tools into capability.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198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9" grpId="0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